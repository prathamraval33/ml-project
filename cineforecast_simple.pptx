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🎬 CineForecast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78BFA"/>
                </a:solidFill>
                <a:latin typeface="Calibri"/>
              </a:defRPr>
            </a:pPr>
            <a:r>
              <a:t>Predicting How Much Money a Movie Will Make — Before It Even Releases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ACC15"/>
                </a:solidFill>
                <a:latin typeface="Calibri"/>
              </a:defRPr>
            </a:pPr>
            <a:r>
              <a:t>A Machine Learning Project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9CA3A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Built with Python · XGBoost · FastAPI · React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Data Source: TMDB Movie Database  ·  3,931 Movies  ·  1990 –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This Project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417320" cy="411480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234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Why is predicting movie earnings hard?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0552" y="1554480"/>
            <a:ext cx="1417320" cy="411480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42032" y="1828800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2" y="26060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3291840"/>
            <a:ext cx="1234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Where our movie data comes from &amp; how we cleaned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1554480"/>
            <a:ext cx="1417320" cy="411480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4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15384" y="1828800"/>
            <a:ext cx="548640" cy="548640"/>
          </a:xfrm>
          <a:prstGeom prst="ellipse">
            <a:avLst/>
          </a:prstGeom>
          <a:solidFill>
            <a:srgbClr val="F4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26060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3291840"/>
            <a:ext cx="1234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Three ML models we tried and compared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77256" y="1554480"/>
            <a:ext cx="1417320" cy="411480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88736" y="1828800"/>
            <a:ext cx="548640" cy="54864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8696" y="26060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8696" y="3291840"/>
            <a:ext cx="1234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Step-by-step flow from raw data to prediction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608" y="1554480"/>
            <a:ext cx="1417320" cy="411480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62088" y="182880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26060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3291840"/>
            <a:ext cx="1234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How well our models performed on unseen movies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1554480"/>
            <a:ext cx="1417320" cy="411480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35440" y="1828800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6060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291840"/>
            <a:ext cx="1234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Interactive web app to explore predictions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97312" y="1554480"/>
            <a:ext cx="1417320" cy="411480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4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08792" y="1828800"/>
            <a:ext cx="548640" cy="548640"/>
          </a:xfrm>
          <a:prstGeom prst="ellipse">
            <a:avLst/>
          </a:prstGeom>
          <a:solidFill>
            <a:srgbClr val="F4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8752" y="26060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88752" y="3291840"/>
            <a:ext cx="1234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What we learned &amp; what comes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Can We Predict a Movie's Earnings?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41148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ACC15"/>
                </a:solidFill>
                <a:latin typeface="Calibri"/>
              </a:defRPr>
            </a:pPr>
            <a:r>
              <a:t>Why is this hard?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Movies can cost millions but still flop at the box office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There are many factors: budget, actors, genre, release date…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No one knows for sure how audiences will react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Studios need better tools to estimate returns early on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200" b="1">
                <a:solidFill>
                  <a:srgbClr val="2DD4BF"/>
                </a:solidFill>
                <a:latin typeface="Calibri"/>
              </a:defRPr>
            </a:pPr>
            <a:r>
              <a:t>What we built: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A system that uses past movie data to predict: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1. How much revenue a movie will likely earn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2. Whether it will be a Flop, Break-Even, Hit, or Blockbuster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3. Which factors matter most for success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63040"/>
            <a:ext cx="5029200" cy="10515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4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5C"/>
                </a:solidFill>
                <a:latin typeface="Calibri"/>
              </a:defRPr>
            </a:pPr>
            <a:r>
              <a:t>💔 Flop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600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Lost money</a:t>
            </a:r>
            <a:br/>
            <a:r>
              <a:t>(Revenue &lt; Budget)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697480"/>
            <a:ext cx="5029200" cy="10515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7889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CA3AF"/>
                </a:solidFill>
                <a:latin typeface="Calibri"/>
              </a:defRPr>
            </a:pPr>
            <a:r>
              <a:t>⚖️ Break-Even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8346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Just covered costs</a:t>
            </a:r>
            <a:br/>
            <a:r>
              <a:t>(1x – 2x return)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931920"/>
            <a:ext cx="5029200" cy="10515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0233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  <a:latin typeface="Calibri"/>
              </a:defRPr>
            </a:pPr>
            <a:r>
              <a:t>🎯 Hit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40690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Good profit</a:t>
            </a:r>
            <a:br/>
            <a:r>
              <a:t>(2x – 4x return)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166360"/>
            <a:ext cx="5029200" cy="10515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52578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🚀 Blockbuster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3035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Massive success</a:t>
            </a:r>
            <a:br/>
            <a:r>
              <a:t>(4x+ return)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Data: From Messy to Clean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ACC15"/>
                </a:solidFill>
                <a:latin typeface="Calibri"/>
              </a:defRPr>
            </a:pPr>
            <a:r>
              <a:t>Where the data came from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TMDB (The Movie Database) — a public movie database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Started with 9,999 movie records from 1990 to 2025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F4725C"/>
                </a:solidFill>
                <a:latin typeface="Calibri"/>
              </a:defRPr>
            </a:pPr>
            <a:r>
              <a:t>Problems we found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47.7% of movies had no budget information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44.3% had no revenue information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232 duplicate entries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Some dates were in the future (bad data)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2DD4BF"/>
                </a:solidFill>
                <a:latin typeface="Calibri"/>
              </a:defRPr>
            </a:pPr>
            <a:r>
              <a:t>After cleaning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3,931 movies with complete, reliable data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Training set: 1990–2022 (3,548 movies)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Test set: 2023–2025 (383 movies, never seen during training)</a:t>
            </a:r>
          </a:p>
        </p:txBody>
      </p:sp>
      <p:pic>
        <p:nvPicPr>
          <p:cNvPr id="5" name="Picture 4" descr="data_audit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22146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Information Did We Feed the Model?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657600" cy="50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We only used information available BEFORE a movie releases — no cheating!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192024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ACC15"/>
                </a:solidFill>
                <a:latin typeface="Calibri"/>
              </a:defRPr>
            </a:pPr>
            <a:r>
              <a:t>💰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Production budget</a:t>
            </a:r>
            <a:br/>
            <a:r>
              <a:t>• Budget (log scale)</a:t>
            </a:r>
            <a:br/>
            <a:r>
              <a:t>  → How much was spent making the movie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192024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Calibri"/>
              </a:defRPr>
            </a:pPr>
            <a:r>
              <a:t>🎭 Genre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60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Action, Drama, Comedy, Sci-Fi…</a:t>
            </a:r>
            <a:br/>
            <a:r>
              <a:t>• 15+ genre flags</a:t>
            </a:r>
            <a:br/>
            <a:r>
              <a:t>  → What type of movie is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474720" cy="192024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D4BF"/>
                </a:solidFill>
                <a:latin typeface="Calibri"/>
              </a:defRPr>
            </a:pPr>
            <a:r>
              <a:t>📅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Release month, day, quarter</a:t>
            </a:r>
            <a:br/>
            <a:r>
              <a:t>• Holiday release? Summer?</a:t>
            </a:r>
            <a:br/>
            <a:r>
              <a:t>  → When the movie hits theaters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3474720" cy="192024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4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725C"/>
                </a:solidFill>
                <a:latin typeface="Calibri"/>
              </a:defRPr>
            </a:pPr>
            <a:r>
              <a:t>🎬 Track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Director's past avg. earnings</a:t>
            </a:r>
            <a:br/>
            <a:r>
              <a:t>• Studio's past avg. earnings</a:t>
            </a:r>
            <a:br/>
            <a:r>
              <a:t>• Number of past films</a:t>
            </a:r>
            <a:br/>
            <a:r>
              <a:t>  → How experienced is the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206240"/>
            <a:ext cx="3474720" cy="192024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343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📊 Other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Runtime (movie length)</a:t>
            </a:r>
            <a:br/>
            <a:r>
              <a:t>• Cast size</a:t>
            </a:r>
            <a:br/>
            <a:r>
              <a:t>• Is it a franchise/sequel?</a:t>
            </a:r>
            <a:br/>
            <a:r>
              <a:t>• International co-production?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206240"/>
            <a:ext cx="3474720" cy="192024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343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Calibri"/>
              </a:defRPr>
            </a:pPr>
            <a:r>
              <a:t>🔢 Total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34 pre-release features</a:t>
            </a:r>
            <a:br/>
            <a:br/>
            <a:r>
              <a:t>All carefully chosen to</a:t>
            </a:r>
            <a:br/>
            <a:r>
              <a:t>avoid data leakage</a:t>
            </a:r>
            <a:br/>
            <a:r>
              <a:t>(no post-release info)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Models: Three Approaches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38912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544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🏔️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Ridge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The Simple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A basic linear model.</a:t>
            </a:r>
            <a:br/>
            <a:r>
              <a:t>Good starting point</a:t>
            </a:r>
            <a:br/>
            <a:r>
              <a:t>to see how a simple</a:t>
            </a:r>
            <a:br/>
            <a:r>
              <a:t>approach performs.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3108960" cy="6400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280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0D1A"/>
                </a:solidFill>
                <a:latin typeface="Calibri"/>
              </a:defRPr>
            </a:pPr>
            <a:r>
              <a:t>R² = 0.40  |  r = 0.65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74720" cy="438912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4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5544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CatBoost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725C"/>
                </a:solidFill>
                <a:latin typeface="Calibri"/>
              </a:defRPr>
            </a:pPr>
            <a:r>
              <a:t>The Smart Competitor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004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A tree-based model from</a:t>
            </a:r>
            <a:br/>
            <a:r>
              <a:t>Yandex. Good at handling</a:t>
            </a:r>
            <a:br/>
            <a:r>
              <a:t>different types of data</a:t>
            </a:r>
            <a:br/>
            <a:r>
              <a:t>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754880"/>
            <a:ext cx="3108960" cy="640080"/>
          </a:xfrm>
          <a:prstGeom prst="roundRect">
            <a:avLst/>
          </a:prstGeom>
          <a:solidFill>
            <a:srgbClr val="F4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8280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0D1A"/>
                </a:solidFill>
                <a:latin typeface="Calibri"/>
              </a:defRPr>
            </a:pPr>
            <a:r>
              <a:t>R² = 0.39  |  r = 0.64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3474720" cy="438912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5544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XGBoost ★ Winner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Calibri"/>
              </a:defRPr>
            </a:pPr>
            <a:r>
              <a:t>Our Best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2004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A powerful tree-based model</a:t>
            </a:r>
            <a:br/>
            <a:r>
              <a:t>fine-tuned with Optuna.</a:t>
            </a:r>
            <a:br/>
            <a:r>
              <a:t>Best overall balance of</a:t>
            </a:r>
            <a:br/>
            <a:r>
              <a:t>accuracy and reliability.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4754880"/>
            <a:ext cx="3108960" cy="64008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8280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0D1A"/>
                </a:solidFill>
                <a:latin typeface="Calibri"/>
              </a:defRPr>
            </a:pPr>
            <a:r>
              <a:t>R² = 0.37  |  r = 0.63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R² = how much of the variation in earnings the model explains  |  r = how closely predictions match actual values  |  Higher = Better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All Works: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600200" cy="31089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Get 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Download 9,999</a:t>
            </a:r>
            <a:br/>
            <a:r>
              <a:t>movie records</a:t>
            </a:r>
            <a:br/>
            <a:r>
              <a:t>from TMDB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4248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21992" y="1463040"/>
            <a:ext cx="1600200" cy="31089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9192" y="1645920"/>
            <a:ext cx="640080" cy="64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24688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Clean &amp;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01752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Remove bad data</a:t>
            </a:r>
            <a:br/>
            <a:r>
              <a:t>keep 3,931</a:t>
            </a:r>
            <a:br/>
            <a:r>
              <a:t>reliable movies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D4B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78224" y="1463040"/>
            <a:ext cx="1600200" cy="31089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35424" y="1645920"/>
            <a:ext cx="640080" cy="64008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9664" y="24688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Build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4" y="301752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Create 34 useful</a:t>
            </a:r>
            <a:br/>
            <a:r>
              <a:t>inputs from the</a:t>
            </a:r>
            <a:br/>
            <a:r>
              <a:t>raw movie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34456" y="1463040"/>
            <a:ext cx="1600200" cy="31089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4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1656" y="1645920"/>
            <a:ext cx="640080" cy="640080"/>
          </a:xfrm>
          <a:prstGeom prst="ellipse">
            <a:avLst/>
          </a:prstGeom>
          <a:solidFill>
            <a:srgbClr val="F4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4688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Train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5896" y="301752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Teach 3 models</a:t>
            </a:r>
            <a:br/>
            <a:r>
              <a:t>using movies</a:t>
            </a:r>
            <a:br/>
            <a:r>
              <a:t>from 1990-2022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72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90688" y="1463040"/>
            <a:ext cx="1600200" cy="31089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47888" y="16459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24688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Test &amp; 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8" y="301752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Test on 383</a:t>
            </a:r>
            <a:br/>
            <a:r>
              <a:t>new movies</a:t>
            </a:r>
            <a:br/>
            <a:r>
              <a:t>from 2023-2025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1463040"/>
            <a:ext cx="1600200" cy="31089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04120" y="1645920"/>
            <a:ext cx="640080" cy="6400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4688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Deploy &amp; Serve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301752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Serve predictions</a:t>
            </a:r>
            <a:br/>
            <a:r>
              <a:t>through API &amp;</a:t>
            </a:r>
            <a:br/>
            <a:r>
              <a:t>web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Tools &amp; Technologies Used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349240"/>
            <a:ext cx="2286000" cy="50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577840"/>
            <a:ext cx="502920" cy="502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57200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Python</a:t>
            </a:r>
          </a:p>
        </p:txBody>
      </p:sp>
      <p:pic>
        <p:nvPicPr>
          <p:cNvPr id="37" name="Picture 36" descr="xg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577840"/>
            <a:ext cx="502920" cy="5029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00200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XGBoost</a:t>
            </a:r>
          </a:p>
        </p:txBody>
      </p:sp>
      <p:pic>
        <p:nvPicPr>
          <p:cNvPr id="39" name="Picture 38" descr="catbo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577840"/>
            <a:ext cx="502920" cy="5029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0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CatBoost</a:t>
            </a:r>
          </a:p>
        </p:txBody>
      </p:sp>
      <p:pic>
        <p:nvPicPr>
          <p:cNvPr id="41" name="Picture 40" descr="scikitle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5577840"/>
            <a:ext cx="502920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886200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Scikit-Learn</a:t>
            </a:r>
          </a:p>
        </p:txBody>
      </p:sp>
      <p:pic>
        <p:nvPicPr>
          <p:cNvPr id="43" name="Picture 42" descr="optu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5577840"/>
            <a:ext cx="502920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029200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Optuna</a:t>
            </a:r>
          </a:p>
        </p:txBody>
      </p:sp>
      <p:pic>
        <p:nvPicPr>
          <p:cNvPr id="45" name="Picture 44" descr="sh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5577840"/>
            <a:ext cx="502920" cy="5029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72200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SHAP</a:t>
            </a:r>
          </a:p>
        </p:txBody>
      </p:sp>
      <p:pic>
        <p:nvPicPr>
          <p:cNvPr id="47" name="Picture 46" descr="fastap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0" y="5577840"/>
            <a:ext cx="502920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15200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FastAPI</a:t>
            </a:r>
          </a:p>
        </p:txBody>
      </p:sp>
      <p:pic>
        <p:nvPicPr>
          <p:cNvPr id="49" name="Picture 48" descr="reac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0" y="5577840"/>
            <a:ext cx="502920" cy="5029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458200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React</a:t>
            </a:r>
          </a:p>
        </p:txBody>
      </p:sp>
      <p:pic>
        <p:nvPicPr>
          <p:cNvPr id="51" name="Picture 50" descr="v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8360" y="5577840"/>
            <a:ext cx="502920" cy="5029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601200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Vite</a:t>
            </a:r>
          </a:p>
        </p:txBody>
      </p:sp>
      <p:pic>
        <p:nvPicPr>
          <p:cNvPr id="53" name="Picture 52" descr="sql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81360" y="5577840"/>
            <a:ext cx="502920" cy="5029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744200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How Good Are Our Predictions?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657600" cy="50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669280" cy="2869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ACC15"/>
                </a:solidFill>
                <a:latin typeface="Calibri"/>
              </a:defRPr>
            </a:pPr>
            <a:r>
              <a:t>What the numbers mean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Our best model (XGBoost) can explain about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37% of the variation in movie earnings.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That may sound low, but predicting movie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revenue is extremely hard — even experts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at studios often get it wrong!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2DD4BF"/>
                </a:solidFill>
                <a:latin typeface="Calibri"/>
              </a:defRPr>
            </a:pPr>
            <a:r>
              <a:t>Key findings: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✅ Budget is the #1 predictor of revenue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✅ Release year matters a lot (inflation effect)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✅ Studio track record is important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✅ Action genre movies tend to earn more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✅ Ridge Regression actually beat XGBoost on R²!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A78BFA"/>
                </a:solidFill>
                <a:latin typeface="Calibri"/>
              </a:defRPr>
            </a:pPr>
            <a:r>
              <a:t>Tested on 383 movies the model never saw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78BFA"/>
                </a:solidFill>
                <a:latin typeface="Calibri"/>
              </a:defRPr>
            </a:pPr>
            <a:r>
              <a:t>during training (released 2023–2025)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Matters Most? Top Factors That Drive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41148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We used SHAP (a method to explain AI decisions) to find which features push predictions up or down</a:t>
            </a:r>
          </a:p>
        </p:txBody>
      </p:sp>
      <p:pic>
        <p:nvPicPr>
          <p:cNvPr id="5" name="Picture 4" descr="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5760720" cy="33474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828800"/>
            <a:ext cx="5303520" cy="8229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74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5"/>
                </a:solidFill>
                <a:latin typeface="Calibri"/>
              </a:defRPr>
            </a:pPr>
            <a:r>
              <a:t>💰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The most important factor. Higher budget → higher expected earnings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88920"/>
            <a:ext cx="5303520" cy="8229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📅 Release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54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More recent movies tend to earn more (inflation + bigger markets)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40"/>
            <a:ext cx="5303520" cy="8229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D4BF"/>
                </a:solidFill>
                <a:latin typeface="Calibri"/>
              </a:defRPr>
            </a:pPr>
            <a:r>
              <a:t>🏢 Studio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Studios with more past films tend to produce higher-earning movies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709160"/>
            <a:ext cx="5303520" cy="8229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4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754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5C"/>
                </a:solidFill>
                <a:latin typeface="Calibri"/>
              </a:defRPr>
            </a:pPr>
            <a:r>
              <a:t>📆 Release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074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The day of the week a movie opens affects opening weekend sales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669280"/>
            <a:ext cx="5303520" cy="82296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5715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⏱️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6035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Movie length plays a surprising role in predicting earnings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Dashboard: Explore Movies Visually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566160" cy="2228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Overview Page</a:t>
            </a:r>
            <a:br/>
            <a:r>
              <a:t>See all movies at a glance</a:t>
            </a:r>
          </a:p>
        </p:txBody>
      </p:sp>
      <p:pic>
        <p:nvPicPr>
          <p:cNvPr id="6" name="Picture 5" descr="dashboard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47548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Movie Explorer</a:t>
            </a:r>
            <a:br/>
            <a:r>
              <a:t>Dig into individual predictions</a:t>
            </a:r>
          </a:p>
        </p:txBody>
      </p:sp>
      <p:pic>
        <p:nvPicPr>
          <p:cNvPr id="8" name="Picture 7" descr="dashboard_what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371600"/>
            <a:ext cx="3566160" cy="2228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47548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What-If Simulator</a:t>
            </a:r>
            <a:br/>
            <a:r>
              <a:t>Change inputs &amp; see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ACC15"/>
                </a:solidFill>
                <a:latin typeface="Calibri"/>
              </a:defRPr>
            </a:pPr>
            <a:r>
              <a:t>Dashboard Features: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📊 Scatter plots showing predicted vs actual earnings  •  🔍 Search &amp; filter any movie  •  🔬 SHAP explanations for every prediction  •  🎮 What-If simulator to test scenarios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 Learned &amp; What Comes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F4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5C"/>
                </a:solidFill>
                <a:latin typeface="Calibri"/>
              </a:defRPr>
            </a:pPr>
            <a:r>
              <a:t>⚠️ 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Almost half the original data had missing budget/revenue info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Model can't predict viral moments or unexpected events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Doesn't account for marketing spend (data not available)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Mostly US-focused; limited international movie data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Predictions are estimates, not guarantees!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4754880"/>
          </a:xfrm>
          <a:prstGeom prst="roundRect">
            <a:avLst/>
          </a:prstGeom>
          <a:solidFill>
            <a:srgbClr val="16162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Calibri"/>
              </a:defRPr>
            </a:pPr>
            <a:r>
              <a:t>🚀 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Add trailer analysis (use AI to analyze movie trailers)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Include social media buzz as a predictor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Break down predictions by country/region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Try deep learning models for better accuracy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Add real-time data updates as new movies release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 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78BFA"/>
                </a:solidFill>
                <a:latin typeface="Calibri"/>
              </a:defRPr>
            </a:pPr>
            <a:r>
              <a:t>CineForecast: Predicting Movie Revenue with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840480"/>
            <a:ext cx="30175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4206240"/>
            <a:ext cx="1188720" cy="11887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3,931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321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Movies</a:t>
            </a:r>
            <a:br/>
            <a:r>
              <a:t>Analyzed</a:t>
            </a:r>
          </a:p>
        </p:txBody>
      </p:sp>
      <p:sp>
        <p:nvSpPr>
          <p:cNvPr id="8" name="Oval 7"/>
          <p:cNvSpPr/>
          <p:nvPr/>
        </p:nvSpPr>
        <p:spPr>
          <a:xfrm>
            <a:off x="3931920" y="4206240"/>
            <a:ext cx="1188720" cy="11887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5321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Features</a:t>
            </a:r>
            <a:br/>
            <a:r>
              <a:t>Used</a:t>
            </a:r>
          </a:p>
        </p:txBody>
      </p:sp>
      <p:sp>
        <p:nvSpPr>
          <p:cNvPr id="10" name="Oval 9"/>
          <p:cNvSpPr/>
          <p:nvPr/>
        </p:nvSpPr>
        <p:spPr>
          <a:xfrm>
            <a:off x="6492240" y="4206240"/>
            <a:ext cx="1188720" cy="1188720"/>
          </a:xfrm>
          <a:prstGeom prst="ellipse">
            <a:avLst/>
          </a:prstGeom>
          <a:solidFill>
            <a:srgbClr val="F4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5321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Models</a:t>
            </a:r>
            <a:br/>
            <a:r>
              <a:t>Compared</a:t>
            </a:r>
          </a:p>
        </p:txBody>
      </p:sp>
      <p:sp>
        <p:nvSpPr>
          <p:cNvPr id="12" name="Oval 11"/>
          <p:cNvSpPr/>
          <p:nvPr/>
        </p:nvSpPr>
        <p:spPr>
          <a:xfrm>
            <a:off x="9052560" y="4206240"/>
            <a:ext cx="1188720" cy="11887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383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55321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Test</a:t>
            </a:r>
            <a:br/>
            <a:r>
              <a:t>Movies</a:t>
            </a:r>
          </a:p>
        </p:txBody>
      </p:sp>
      <p:pic>
        <p:nvPicPr>
          <p:cNvPr id="14" name="Picture 13" descr="repo_q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0"/>
            <a:ext cx="137160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Scan for GitHub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