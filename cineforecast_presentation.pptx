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CineForecast. This project addresses the multi-million dollar challenge of theatrical box office risk underwriting. By leveraging 3,931 verified historical films from TMDB, we developed a leakage-safe machine learning engine that forecasts worldwide box office revenue and classifies return on investment tiers before theatrical debut. Today's presentation highlights our data audit, architecture, modeling benchmarks, and interactive analytics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presentation follows a structured six-stage roadmap. We begin with the financial problem statement and the necessity of preventing hindsight leakage. Next, we review the data cleaning audit and system architecture. We then deep-dive into the ML benchmark results, ablation study, and SHAP explainability. Finally, we showcase the live interactive What-If Studio and our future engineering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film production decision carries massive financial downside risk. In raw TMDB data, nearly half the entries omit budget or box office earnings. Furthermore, many published models commit a critical error: they use post-release audience votes to predict revenue, which is impossible before release. CineForecast sets four strict objectives: pre-release revenue prediction, four-tier ROI risk classification, zero target leakage, and real-time scenario simulation.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rigorous data audit findings. Starting from 9,999 raw TMDB entries, we identified 232 duplicates, which we resolved using completeness scoring. We filtered out zero-budget and zero-revenue records, removed historical pre-1990 films to preserve macroeconomic consistency, and excluded future-dated entries up to 2031. The resulting 3,931 films show a balanced tier distribution, with 56.9% achieving Break-even or better returns.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architecture is designed for production reliability and analytical integrity. In Stage 1, raw catalog data is ingested and sanitized. In Stage 2, our leakage-safe feature builder computes rolling historical priors with strict temporal cutoffs to eliminate future data contamination. Stage 3 optimizes gradient boosted trees using Bayesian search via Optuna and serializes models and SHAP cache to the registry. Stage 4 serves inference through a FastAPI REST engine to an interactive React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systematically evaluated multiple model families. Ridge Regression provides a solid linear baseline with an R² of 0.40 on log revenue. CatBoost demonstrated competitive performance with symmetric trees. Our champion model, XGBoost, was hyperparameter-tuned using Optuna over 5-fold TimeSeriesSplit cross-validation. XGBoost was chosen as our primary production champion due to its deterministic TreeExplainer SHAP performance and rapid inference latency in FastAPI.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implementation adheres to strict software engineering standards. The entire stack is built on Python 3.11, FastAPI, and React 18. We maintain full reproducibility through frozen requirements and Docker specs. Model tuning executes in under 2 minutes on CPU, and our automated Pytest test suite validates zero-leakage constraints before any model artifact is accepted into the registry.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presents our core empirical findings. On the left, our held-out test benchmarks on 2023–2025 releases demonstrate strong predictive correlation exceeding 0.62 across models. On the right, our Leakage Ablation Study proves the deceptive inflation caused by early audience signals: incorporating post-release popularity artificially increases Pearson r to 0.6939. CineForecast exclusively deploys the clean pre-release model to maintain operational truth.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production application puts predictive power directly in the hands of creative producers and film financiers. Through the What-If Studio, users can simulate budget adjustments and release shifts to test project sensitivity in real-time. Per-film SHAP waterfall drawers explain every prediction. Our future engineering roadmap includes multi-modal trailer video analysis and territory-level box office decomposition.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CineForecast bridges academic machine learning discipline with production full-stack engineering. The entire codebase, test suites, trained model registry, and interactive dashboard are open-source and documented on GitHub. Scan the QR code or visit github.com/prathamraval33/ml-project. I welcome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8.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4.png"/><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Rectangle 1"/>
          <p:cNvSpPr/>
          <p:nvPr/>
        </p:nvSpPr>
        <p:spPr>
          <a:xfrm>
            <a:off x="731520" y="731520"/>
            <a:ext cx="1371600" cy="54864"/>
          </a:xfrm>
          <a:prstGeom prst="rect">
            <a:avLst/>
          </a:prstGeom>
          <a:solidFill>
            <a:srgbClr val="805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3291840" cy="384048"/>
          </a:xfrm>
          <a:prstGeom prst="roundRect">
            <a:avLst/>
          </a:prstGeom>
          <a:solidFill>
            <a:srgbClr val="121422"/>
          </a:solidFill>
          <a:ln w="12700">
            <a:solidFill>
              <a:srgbClr val="805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8052FF"/>
                </a:solidFill>
              </a:defRPr>
            </a:pPr>
            <a:r>
              <a:t>PREDICTIVE ANALYTICS &amp; APPLIED ML</a:t>
            </a:r>
          </a:p>
        </p:txBody>
      </p:sp>
      <p:sp>
        <p:nvSpPr>
          <p:cNvPr id="4" name="TextBox 3"/>
          <p:cNvSpPr txBox="1"/>
          <p:nvPr/>
        </p:nvSpPr>
        <p:spPr>
          <a:xfrm>
            <a:off x="731520" y="1600200"/>
            <a:ext cx="10515600" cy="1188720"/>
          </a:xfrm>
          <a:prstGeom prst="rect">
            <a:avLst/>
          </a:prstGeom>
          <a:noFill/>
        </p:spPr>
        <p:txBody>
          <a:bodyPr wrap="none">
            <a:spAutoFit/>
          </a:bodyPr>
          <a:lstStyle/>
          <a:p>
            <a:pPr>
              <a:defRPr sz="5400" b="1">
                <a:solidFill>
                  <a:srgbClr val="FFFFFF"/>
                </a:solidFill>
                <a:latin typeface="Arial"/>
              </a:defRPr>
            </a:pPr>
            <a:r>
              <a:t>CineForecast</a:t>
            </a:r>
          </a:p>
        </p:txBody>
      </p:sp>
      <p:sp>
        <p:nvSpPr>
          <p:cNvPr id="5" name="TextBox 4"/>
          <p:cNvSpPr txBox="1"/>
          <p:nvPr/>
        </p:nvSpPr>
        <p:spPr>
          <a:xfrm>
            <a:off x="731520" y="2788920"/>
            <a:ext cx="10515600" cy="731520"/>
          </a:xfrm>
          <a:prstGeom prst="rect">
            <a:avLst/>
          </a:prstGeom>
          <a:noFill/>
        </p:spPr>
        <p:txBody>
          <a:bodyPr wrap="none">
            <a:spAutoFit/>
          </a:bodyPr>
          <a:lstStyle/>
          <a:p>
            <a:pPr>
              <a:defRPr sz="1900">
                <a:solidFill>
                  <a:srgbClr val="FFB829"/>
                </a:solidFill>
                <a:latin typeface="Arial"/>
              </a:defRPr>
            </a:pPr>
            <a:r>
              <a:t>Explainable Machine Learning for Pre-Release Film Revenue Forecasting &amp; ROI Underwriting</a:t>
            </a:r>
          </a:p>
        </p:txBody>
      </p:sp>
      <p:sp>
        <p:nvSpPr>
          <p:cNvPr id="6" name="Rounded Rectangle 5"/>
          <p:cNvSpPr/>
          <p:nvPr/>
        </p:nvSpPr>
        <p:spPr>
          <a:xfrm>
            <a:off x="731520" y="3794760"/>
            <a:ext cx="2514600" cy="13716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931920"/>
            <a:ext cx="2185416" cy="1097280"/>
          </a:xfrm>
          <a:prstGeom prst="rect">
            <a:avLst/>
          </a:prstGeom>
          <a:noFill/>
        </p:spPr>
        <p:txBody>
          <a:bodyPr wrap="square">
            <a:spAutoFit/>
          </a:bodyPr>
          <a:lstStyle/>
          <a:p>
            <a:pPr>
              <a:defRPr sz="950" b="1">
                <a:solidFill>
                  <a:srgbClr val="94A3B8"/>
                </a:solidFill>
              </a:defRPr>
            </a:pPr>
            <a:r>
              <a:t>PROJECT LEAD / AUTHOR</a:t>
            </a:r>
          </a:p>
          <a:p>
            <a:pPr>
              <a:spcBef>
                <a:spcPts val="400"/>
              </a:spcBef>
              <a:defRPr sz="1300" b="1">
                <a:solidFill>
                  <a:srgbClr val="FFFFFF"/>
                </a:solidFill>
              </a:defRPr>
            </a:pPr>
            <a:r>
              <a:t>Pratham Raval</a:t>
            </a:r>
          </a:p>
          <a:p>
            <a:pPr>
              <a:spcBef>
                <a:spcPts val="200"/>
              </a:spcBef>
              <a:defRPr sz="1000">
                <a:solidFill>
                  <a:srgbClr val="8052FF"/>
                </a:solidFill>
              </a:defRPr>
            </a:pPr>
            <a:r>
              <a:t>ML Engineering &amp; Architecture</a:t>
            </a:r>
          </a:p>
        </p:txBody>
      </p:sp>
      <p:sp>
        <p:nvSpPr>
          <p:cNvPr id="8" name="Rounded Rectangle 7"/>
          <p:cNvSpPr/>
          <p:nvPr/>
        </p:nvSpPr>
        <p:spPr>
          <a:xfrm>
            <a:off x="3474720" y="3794760"/>
            <a:ext cx="2514600" cy="13716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3931920"/>
            <a:ext cx="2185416" cy="1097280"/>
          </a:xfrm>
          <a:prstGeom prst="rect">
            <a:avLst/>
          </a:prstGeom>
          <a:noFill/>
        </p:spPr>
        <p:txBody>
          <a:bodyPr wrap="square">
            <a:spAutoFit/>
          </a:bodyPr>
          <a:lstStyle/>
          <a:p>
            <a:pPr>
              <a:defRPr sz="950" b="1">
                <a:solidFill>
                  <a:srgbClr val="94A3B8"/>
                </a:solidFill>
              </a:defRPr>
            </a:pPr>
            <a:r>
              <a:t>EVALUATION DATASET</a:t>
            </a:r>
          </a:p>
          <a:p>
            <a:pPr>
              <a:spcBef>
                <a:spcPts val="400"/>
              </a:spcBef>
              <a:defRPr sz="1300" b="1">
                <a:solidFill>
                  <a:srgbClr val="FFFFFF"/>
                </a:solidFill>
              </a:defRPr>
            </a:pPr>
            <a:r>
              <a:t>3,931 Clean TMDB Films</a:t>
            </a:r>
          </a:p>
          <a:p>
            <a:pPr>
              <a:spcBef>
                <a:spcPts val="200"/>
              </a:spcBef>
              <a:defRPr sz="1000">
                <a:solidFill>
                  <a:srgbClr val="8052FF"/>
                </a:solidFill>
              </a:defRPr>
            </a:pPr>
            <a:r>
              <a:t>Verified Pre-Release Financials</a:t>
            </a:r>
          </a:p>
        </p:txBody>
      </p:sp>
      <p:sp>
        <p:nvSpPr>
          <p:cNvPr id="10" name="Rounded Rectangle 9"/>
          <p:cNvSpPr/>
          <p:nvPr/>
        </p:nvSpPr>
        <p:spPr>
          <a:xfrm>
            <a:off x="6217920" y="3794760"/>
            <a:ext cx="2514600" cy="13716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3931920"/>
            <a:ext cx="2185416" cy="1097280"/>
          </a:xfrm>
          <a:prstGeom prst="rect">
            <a:avLst/>
          </a:prstGeom>
          <a:noFill/>
        </p:spPr>
        <p:txBody>
          <a:bodyPr wrap="square">
            <a:spAutoFit/>
          </a:bodyPr>
          <a:lstStyle/>
          <a:p>
            <a:pPr>
              <a:defRPr sz="950" b="1">
                <a:solidFill>
                  <a:srgbClr val="94A3B8"/>
                </a:solidFill>
              </a:defRPr>
            </a:pPr>
            <a:r>
              <a:t>CHAMPION ARCHITECTURE</a:t>
            </a:r>
          </a:p>
          <a:p>
            <a:pPr>
              <a:spcBef>
                <a:spcPts val="400"/>
              </a:spcBef>
              <a:defRPr sz="1300" b="1">
                <a:solidFill>
                  <a:srgbClr val="FFFFFF"/>
                </a:solidFill>
              </a:defRPr>
            </a:pPr>
            <a:r>
              <a:t>Optuna-Tuned XGBoost</a:t>
            </a:r>
          </a:p>
          <a:p>
            <a:pPr>
              <a:spcBef>
                <a:spcPts val="200"/>
              </a:spcBef>
              <a:defRPr sz="1000">
                <a:solidFill>
                  <a:srgbClr val="8052FF"/>
                </a:solidFill>
              </a:defRPr>
            </a:pPr>
            <a:r>
              <a:t>TreeExplainer SHAP Attribution</a:t>
            </a:r>
          </a:p>
        </p:txBody>
      </p:sp>
      <p:sp>
        <p:nvSpPr>
          <p:cNvPr id="12" name="Rounded Rectangle 11"/>
          <p:cNvSpPr/>
          <p:nvPr/>
        </p:nvSpPr>
        <p:spPr>
          <a:xfrm>
            <a:off x="8961120" y="3794760"/>
            <a:ext cx="2514600" cy="13716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25712" y="3931920"/>
            <a:ext cx="2185416" cy="1097280"/>
          </a:xfrm>
          <a:prstGeom prst="rect">
            <a:avLst/>
          </a:prstGeom>
          <a:noFill/>
        </p:spPr>
        <p:txBody>
          <a:bodyPr wrap="square">
            <a:spAutoFit/>
          </a:bodyPr>
          <a:lstStyle/>
          <a:p>
            <a:pPr>
              <a:defRPr sz="950" b="1">
                <a:solidFill>
                  <a:srgbClr val="94A3B8"/>
                </a:solidFill>
              </a:defRPr>
            </a:pPr>
            <a:r>
              <a:t>PRODUCTION PLATFORM</a:t>
            </a:r>
          </a:p>
          <a:p>
            <a:pPr>
              <a:spcBef>
                <a:spcPts val="400"/>
              </a:spcBef>
              <a:defRPr sz="1300" b="1">
                <a:solidFill>
                  <a:srgbClr val="FFFFFF"/>
                </a:solidFill>
              </a:defRPr>
            </a:pPr>
            <a:r>
              <a:t>FastAPI + React 18</a:t>
            </a:r>
          </a:p>
          <a:p>
            <a:pPr>
              <a:spcBef>
                <a:spcPts val="200"/>
              </a:spcBef>
              <a:defRPr sz="1000">
                <a:solidFill>
                  <a:srgbClr val="8052FF"/>
                </a:solidFill>
              </a:defRPr>
            </a:pPr>
            <a:r>
              <a:t>Interactive What-If Studio</a:t>
            </a:r>
          </a:p>
        </p:txBody>
      </p:sp>
      <p:sp>
        <p:nvSpPr>
          <p:cNvPr id="14" name="Rounded Rectangle 13"/>
          <p:cNvSpPr/>
          <p:nvPr/>
        </p:nvSpPr>
        <p:spPr>
          <a:xfrm>
            <a:off x="731520" y="5440680"/>
            <a:ext cx="10744200" cy="91440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69280"/>
            <a:ext cx="2560320" cy="457200"/>
          </a:xfrm>
          <a:prstGeom prst="rect">
            <a:avLst/>
          </a:prstGeom>
          <a:noFill/>
        </p:spPr>
        <p:txBody>
          <a:bodyPr wrap="none">
            <a:spAutoFit/>
          </a:bodyPr>
          <a:lstStyle/>
          <a:p>
            <a:pPr>
              <a:defRPr sz="1050" b="1">
                <a:solidFill>
                  <a:srgbClr val="94A3B8"/>
                </a:solidFill>
              </a:defRPr>
            </a:pPr>
            <a:r>
              <a:t>CORE TECHNOLOGIES</a:t>
            </a:r>
          </a:p>
        </p:txBody>
      </p:sp>
      <p:sp>
        <p:nvSpPr>
          <p:cNvPr id="16" name="Rounded Rectangle 15"/>
          <p:cNvSpPr/>
          <p:nvPr/>
        </p:nvSpPr>
        <p:spPr>
          <a:xfrm>
            <a:off x="3657600"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ython.png"/>
          <p:cNvPicPr>
            <a:picLocks noChangeAspect="1"/>
          </p:cNvPicPr>
          <p:nvPr/>
        </p:nvPicPr>
        <p:blipFill>
          <a:blip r:embed="rId2"/>
          <a:stretch>
            <a:fillRect/>
          </a:stretch>
        </p:blipFill>
        <p:spPr>
          <a:xfrm>
            <a:off x="3758184" y="5678424"/>
            <a:ext cx="457200" cy="457200"/>
          </a:xfrm>
          <a:prstGeom prst="rect">
            <a:avLst/>
          </a:prstGeom>
        </p:spPr>
      </p:pic>
      <p:sp>
        <p:nvSpPr>
          <p:cNvPr id="18" name="Rounded Rectangle 17"/>
          <p:cNvSpPr/>
          <p:nvPr/>
        </p:nvSpPr>
        <p:spPr>
          <a:xfrm>
            <a:off x="4553712"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xgboost.png"/>
          <p:cNvPicPr>
            <a:picLocks noChangeAspect="1"/>
          </p:cNvPicPr>
          <p:nvPr/>
        </p:nvPicPr>
        <p:blipFill>
          <a:blip r:embed="rId3"/>
          <a:stretch>
            <a:fillRect/>
          </a:stretch>
        </p:blipFill>
        <p:spPr>
          <a:xfrm>
            <a:off x="4654296" y="5678424"/>
            <a:ext cx="457200" cy="158003"/>
          </a:xfrm>
          <a:prstGeom prst="rect">
            <a:avLst/>
          </a:prstGeom>
        </p:spPr>
      </p:pic>
      <p:sp>
        <p:nvSpPr>
          <p:cNvPr id="20" name="Rounded Rectangle 19"/>
          <p:cNvSpPr/>
          <p:nvPr/>
        </p:nvSpPr>
        <p:spPr>
          <a:xfrm>
            <a:off x="5449824"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atboost.png"/>
          <p:cNvPicPr>
            <a:picLocks noChangeAspect="1"/>
          </p:cNvPicPr>
          <p:nvPr/>
        </p:nvPicPr>
        <p:blipFill>
          <a:blip r:embed="rId4"/>
          <a:stretch>
            <a:fillRect/>
          </a:stretch>
        </p:blipFill>
        <p:spPr>
          <a:xfrm>
            <a:off x="5550408" y="5678424"/>
            <a:ext cx="457200" cy="192204"/>
          </a:xfrm>
          <a:prstGeom prst="rect">
            <a:avLst/>
          </a:prstGeom>
        </p:spPr>
      </p:pic>
      <p:sp>
        <p:nvSpPr>
          <p:cNvPr id="22" name="Rounded Rectangle 21"/>
          <p:cNvSpPr/>
          <p:nvPr/>
        </p:nvSpPr>
        <p:spPr>
          <a:xfrm>
            <a:off x="6345936"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cikitlearn.png"/>
          <p:cNvPicPr>
            <a:picLocks noChangeAspect="1"/>
          </p:cNvPicPr>
          <p:nvPr/>
        </p:nvPicPr>
        <p:blipFill>
          <a:blip r:embed="rId5"/>
          <a:stretch>
            <a:fillRect/>
          </a:stretch>
        </p:blipFill>
        <p:spPr>
          <a:xfrm>
            <a:off x="6446520" y="5678424"/>
            <a:ext cx="457200" cy="247581"/>
          </a:xfrm>
          <a:prstGeom prst="rect">
            <a:avLst/>
          </a:prstGeom>
        </p:spPr>
      </p:pic>
      <p:sp>
        <p:nvSpPr>
          <p:cNvPr id="24" name="Rounded Rectangle 23"/>
          <p:cNvSpPr/>
          <p:nvPr/>
        </p:nvSpPr>
        <p:spPr>
          <a:xfrm>
            <a:off x="7242048"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astapi.png"/>
          <p:cNvPicPr>
            <a:picLocks noChangeAspect="1"/>
          </p:cNvPicPr>
          <p:nvPr/>
        </p:nvPicPr>
        <p:blipFill>
          <a:blip r:embed="rId6"/>
          <a:stretch>
            <a:fillRect/>
          </a:stretch>
        </p:blipFill>
        <p:spPr>
          <a:xfrm>
            <a:off x="7342632" y="5678424"/>
            <a:ext cx="457200" cy="457200"/>
          </a:xfrm>
          <a:prstGeom prst="rect">
            <a:avLst/>
          </a:prstGeom>
        </p:spPr>
      </p:pic>
      <p:sp>
        <p:nvSpPr>
          <p:cNvPr id="26" name="Rounded Rectangle 25"/>
          <p:cNvSpPr/>
          <p:nvPr/>
        </p:nvSpPr>
        <p:spPr>
          <a:xfrm>
            <a:off x="8138160"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eact.png"/>
          <p:cNvPicPr>
            <a:picLocks noChangeAspect="1"/>
          </p:cNvPicPr>
          <p:nvPr/>
        </p:nvPicPr>
        <p:blipFill>
          <a:blip r:embed="rId7"/>
          <a:stretch>
            <a:fillRect/>
          </a:stretch>
        </p:blipFill>
        <p:spPr>
          <a:xfrm>
            <a:off x="8238744" y="5678424"/>
            <a:ext cx="457200" cy="457200"/>
          </a:xfrm>
          <a:prstGeom prst="rect">
            <a:avLst/>
          </a:prstGeom>
        </p:spPr>
      </p:pic>
      <p:sp>
        <p:nvSpPr>
          <p:cNvPr id="28" name="Rounded Rectangle 27"/>
          <p:cNvSpPr/>
          <p:nvPr/>
        </p:nvSpPr>
        <p:spPr>
          <a:xfrm>
            <a:off x="9034272"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vite.png"/>
          <p:cNvPicPr>
            <a:picLocks noChangeAspect="1"/>
          </p:cNvPicPr>
          <p:nvPr/>
        </p:nvPicPr>
        <p:blipFill>
          <a:blip r:embed="rId8"/>
          <a:stretch>
            <a:fillRect/>
          </a:stretch>
        </p:blipFill>
        <p:spPr>
          <a:xfrm>
            <a:off x="9134856" y="5678424"/>
            <a:ext cx="457200" cy="457200"/>
          </a:xfrm>
          <a:prstGeom prst="rect">
            <a:avLst/>
          </a:prstGeom>
        </p:spPr>
      </p:pic>
      <p:sp>
        <p:nvSpPr>
          <p:cNvPr id="30" name="Rounded Rectangle 29"/>
          <p:cNvSpPr/>
          <p:nvPr/>
        </p:nvSpPr>
        <p:spPr>
          <a:xfrm>
            <a:off x="9930384" y="5577840"/>
            <a:ext cx="658368" cy="658368"/>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qlite.png"/>
          <p:cNvPicPr>
            <a:picLocks noChangeAspect="1"/>
          </p:cNvPicPr>
          <p:nvPr/>
        </p:nvPicPr>
        <p:blipFill>
          <a:blip r:embed="rId9"/>
          <a:stretch>
            <a:fillRect/>
          </a:stretch>
        </p:blipFill>
        <p:spPr>
          <a:xfrm>
            <a:off x="10030968" y="5678424"/>
            <a:ext cx="45720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ROADMAP &amp; STRUCTURE</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Project Outline &amp; Analytical Progression</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Visual agenda covering our end-to-end machine learning engineering lifecycle</a:t>
            </a:r>
          </a:p>
        </p:txBody>
      </p:sp>
      <p:sp>
        <p:nvSpPr>
          <p:cNvPr id="5" name="Rounded Rectangle 4"/>
          <p:cNvSpPr/>
          <p:nvPr/>
        </p:nvSpPr>
        <p:spPr>
          <a:xfrm>
            <a:off x="731520" y="1874519"/>
            <a:ext cx="3337560" cy="210312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39111"/>
            <a:ext cx="2971800" cy="1773936"/>
          </a:xfrm>
          <a:prstGeom prst="rect">
            <a:avLst/>
          </a:prstGeom>
          <a:noFill/>
        </p:spPr>
        <p:txBody>
          <a:bodyPr wrap="square">
            <a:spAutoFit/>
          </a:bodyPr>
          <a:lstStyle/>
          <a:p>
            <a:pPr>
              <a:defRPr sz="1100" b="1">
                <a:solidFill>
                  <a:srgbClr val="8052FF"/>
                </a:solidFill>
              </a:defRPr>
            </a:pPr>
            <a:r>
              <a:t>01 • FILM FINANCING RISK</a:t>
            </a:r>
          </a:p>
          <a:p>
            <a:pPr>
              <a:spcBef>
                <a:spcPts val="400"/>
              </a:spcBef>
              <a:defRPr sz="1600" b="1">
                <a:solidFill>
                  <a:srgbClr val="FFFFFF"/>
                </a:solidFill>
              </a:defRPr>
            </a:pPr>
            <a:r>
              <a:t>Problem &amp; Objectives</a:t>
            </a:r>
          </a:p>
          <a:p>
            <a:pPr>
              <a:spcBef>
                <a:spcPts val="600"/>
              </a:spcBef>
              <a:defRPr sz="1100">
                <a:solidFill>
                  <a:srgbClr val="94A3B8"/>
                </a:solidFill>
              </a:defRPr>
            </a:pPr>
            <a:r>
              <a:t>Quantifying box-office volatility, missing financials, and the risk of post-release target leakage.</a:t>
            </a:r>
          </a:p>
        </p:txBody>
      </p:sp>
      <p:sp>
        <p:nvSpPr>
          <p:cNvPr id="7" name="Rounded Rectangle 6"/>
          <p:cNvSpPr/>
          <p:nvPr/>
        </p:nvSpPr>
        <p:spPr>
          <a:xfrm>
            <a:off x="4434840" y="1874519"/>
            <a:ext cx="3337560" cy="210312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039111"/>
            <a:ext cx="2971800" cy="1773936"/>
          </a:xfrm>
          <a:prstGeom prst="rect">
            <a:avLst/>
          </a:prstGeom>
          <a:noFill/>
        </p:spPr>
        <p:txBody>
          <a:bodyPr wrap="square">
            <a:spAutoFit/>
          </a:bodyPr>
          <a:lstStyle/>
          <a:p>
            <a:pPr>
              <a:defRPr sz="1100" b="1">
                <a:solidFill>
                  <a:srgbClr val="FFB829"/>
                </a:solidFill>
              </a:defRPr>
            </a:pPr>
            <a:r>
              <a:t>02 • QUALITY FUNNEL</a:t>
            </a:r>
          </a:p>
          <a:p>
            <a:pPr>
              <a:spcBef>
                <a:spcPts val="400"/>
              </a:spcBef>
              <a:defRPr sz="1600" b="1">
                <a:solidFill>
                  <a:srgbClr val="FFFFFF"/>
                </a:solidFill>
              </a:defRPr>
            </a:pPr>
            <a:r>
              <a:t>Data Audit &amp; Cleaning</a:t>
            </a:r>
          </a:p>
          <a:p>
            <a:pPr>
              <a:spcBef>
                <a:spcPts val="600"/>
              </a:spcBef>
              <a:defRPr sz="1100">
                <a:solidFill>
                  <a:srgbClr val="94A3B8"/>
                </a:solidFill>
              </a:defRPr>
            </a:pPr>
            <a:r>
              <a:t>Resolving 232 duplicates, 47.7% missing budgets, and parsing malformed list features into 3,931 films.</a:t>
            </a:r>
          </a:p>
        </p:txBody>
      </p:sp>
      <p:sp>
        <p:nvSpPr>
          <p:cNvPr id="9" name="Rounded Rectangle 8"/>
          <p:cNvSpPr/>
          <p:nvPr/>
        </p:nvSpPr>
        <p:spPr>
          <a:xfrm>
            <a:off x="8138160" y="1874519"/>
            <a:ext cx="3337560" cy="210312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039111"/>
            <a:ext cx="2971800" cy="1773936"/>
          </a:xfrm>
          <a:prstGeom prst="rect">
            <a:avLst/>
          </a:prstGeom>
          <a:noFill/>
        </p:spPr>
        <p:txBody>
          <a:bodyPr wrap="square">
            <a:spAutoFit/>
          </a:bodyPr>
          <a:lstStyle/>
          <a:p>
            <a:pPr>
              <a:defRPr sz="1100" b="1">
                <a:solidFill>
                  <a:srgbClr val="10B981"/>
                </a:solidFill>
              </a:defRPr>
            </a:pPr>
            <a:r>
              <a:t>03 • END-TO-END PIPELINE</a:t>
            </a:r>
          </a:p>
          <a:p>
            <a:pPr>
              <a:spcBef>
                <a:spcPts val="400"/>
              </a:spcBef>
              <a:defRPr sz="1600" b="1">
                <a:solidFill>
                  <a:srgbClr val="FFFFFF"/>
                </a:solidFill>
              </a:defRPr>
            </a:pPr>
            <a:r>
              <a:t>System Architecture</a:t>
            </a:r>
          </a:p>
          <a:p>
            <a:pPr>
              <a:spcBef>
                <a:spcPts val="600"/>
              </a:spcBef>
              <a:defRPr sz="1100">
                <a:solidFill>
                  <a:srgbClr val="94A3B8"/>
                </a:solidFill>
              </a:defRPr>
            </a:pPr>
            <a:r>
              <a:t>Strict chronological cutoffs, rolling director priors, FastAPI REST services, and React dashboard.</a:t>
            </a:r>
          </a:p>
        </p:txBody>
      </p:sp>
      <p:sp>
        <p:nvSpPr>
          <p:cNvPr id="11" name="Rounded Rectangle 10"/>
          <p:cNvSpPr/>
          <p:nvPr/>
        </p:nvSpPr>
        <p:spPr>
          <a:xfrm>
            <a:off x="731520" y="4251960"/>
            <a:ext cx="3337560" cy="210312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16552"/>
            <a:ext cx="2971800" cy="1773936"/>
          </a:xfrm>
          <a:prstGeom prst="rect">
            <a:avLst/>
          </a:prstGeom>
          <a:noFill/>
        </p:spPr>
        <p:txBody>
          <a:bodyPr wrap="square">
            <a:spAutoFit/>
          </a:bodyPr>
          <a:lstStyle/>
          <a:p>
            <a:pPr>
              <a:defRPr sz="1100" b="1">
                <a:solidFill>
                  <a:srgbClr val="8052FF"/>
                </a:solidFill>
              </a:defRPr>
            </a:pPr>
            <a:r>
              <a:t>04 • CHAMPION OPTIMIZATION</a:t>
            </a:r>
          </a:p>
          <a:p>
            <a:pPr>
              <a:spcBef>
                <a:spcPts val="400"/>
              </a:spcBef>
              <a:defRPr sz="1600" b="1">
                <a:solidFill>
                  <a:srgbClr val="FFFFFF"/>
                </a:solidFill>
              </a:defRPr>
            </a:pPr>
            <a:r>
              <a:t>Machine Learning Models</a:t>
            </a:r>
          </a:p>
          <a:p>
            <a:pPr>
              <a:spcBef>
                <a:spcPts val="600"/>
              </a:spcBef>
              <a:defRPr sz="1100">
                <a:solidFill>
                  <a:srgbClr val="94A3B8"/>
                </a:solidFill>
              </a:defRPr>
            </a:pPr>
            <a:r>
              <a:t>Ridge baseline, CatBoost benchmark, and Optuna-tuned Champion XGBoost with TimeSeriesSplit.</a:t>
            </a:r>
          </a:p>
        </p:txBody>
      </p:sp>
      <p:sp>
        <p:nvSpPr>
          <p:cNvPr id="13" name="Rounded Rectangle 12"/>
          <p:cNvSpPr/>
          <p:nvPr/>
        </p:nvSpPr>
        <p:spPr>
          <a:xfrm>
            <a:off x="4434840" y="4251960"/>
            <a:ext cx="3337560" cy="210312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4416552"/>
            <a:ext cx="2971800" cy="1773936"/>
          </a:xfrm>
          <a:prstGeom prst="rect">
            <a:avLst/>
          </a:prstGeom>
          <a:noFill/>
        </p:spPr>
        <p:txBody>
          <a:bodyPr wrap="square">
            <a:spAutoFit/>
          </a:bodyPr>
          <a:lstStyle/>
          <a:p>
            <a:pPr>
              <a:defRPr sz="1100" b="1">
                <a:solidFill>
                  <a:srgbClr val="FFB829"/>
                </a:solidFill>
              </a:defRPr>
            </a:pPr>
            <a:r>
              <a:t>05 • ABLATION &amp; SHAP</a:t>
            </a:r>
          </a:p>
          <a:p>
            <a:pPr>
              <a:spcBef>
                <a:spcPts val="400"/>
              </a:spcBef>
              <a:defRPr sz="1600" b="1">
                <a:solidFill>
                  <a:srgbClr val="FFFFFF"/>
                </a:solidFill>
              </a:defRPr>
            </a:pPr>
            <a:r>
              <a:t>Results &amp; Explainability</a:t>
            </a:r>
          </a:p>
          <a:p>
            <a:pPr>
              <a:spcBef>
                <a:spcPts val="600"/>
              </a:spcBef>
              <a:defRPr sz="1100">
                <a:solidFill>
                  <a:srgbClr val="94A3B8"/>
                </a:solidFill>
              </a:defRPr>
            </a:pPr>
            <a:r>
              <a:t>Held-out test evaluation, proof of popularity inflation, and TreeExplainer feature attributions.</a:t>
            </a:r>
          </a:p>
        </p:txBody>
      </p:sp>
      <p:sp>
        <p:nvSpPr>
          <p:cNvPr id="15" name="Rounded Rectangle 14"/>
          <p:cNvSpPr/>
          <p:nvPr/>
        </p:nvSpPr>
        <p:spPr>
          <a:xfrm>
            <a:off x="8138160" y="4251960"/>
            <a:ext cx="3337560" cy="210312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4416552"/>
            <a:ext cx="2971800" cy="1773936"/>
          </a:xfrm>
          <a:prstGeom prst="rect">
            <a:avLst/>
          </a:prstGeom>
          <a:noFill/>
        </p:spPr>
        <p:txBody>
          <a:bodyPr wrap="square">
            <a:spAutoFit/>
          </a:bodyPr>
          <a:lstStyle/>
          <a:p>
            <a:pPr>
              <a:defRPr sz="1100" b="1">
                <a:solidFill>
                  <a:srgbClr val="10B981"/>
                </a:solidFill>
              </a:defRPr>
            </a:pPr>
            <a:r>
              <a:t>06 • WHAT-IF STUDIO</a:t>
            </a:r>
          </a:p>
          <a:p>
            <a:pPr>
              <a:spcBef>
                <a:spcPts val="400"/>
              </a:spcBef>
              <a:defRPr sz="1600" b="1">
                <a:solidFill>
                  <a:srgbClr val="FFFFFF"/>
                </a:solidFill>
              </a:defRPr>
            </a:pPr>
            <a:r>
              <a:t>Application &amp; Future Scope</a:t>
            </a:r>
          </a:p>
          <a:p>
            <a:pPr>
              <a:spcBef>
                <a:spcPts val="600"/>
              </a:spcBef>
              <a:defRPr sz="1100">
                <a:solidFill>
                  <a:srgbClr val="94A3B8"/>
                </a:solidFill>
              </a:defRPr>
            </a:pPr>
            <a:r>
              <a:t>Real-time pre-production sensitivity simulator, production deployment, and multi-modal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PROBLEM CONTEXT &amp; MANDATE</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Problem Statement &amp; Strategic Objectives</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De-risking capital allocation in theatrical motion pictures through pre-release intelligence</a:t>
            </a:r>
          </a:p>
        </p:txBody>
      </p:sp>
      <p:sp>
        <p:nvSpPr>
          <p:cNvPr id="5" name="Rounded Rectangle 4"/>
          <p:cNvSpPr/>
          <p:nvPr/>
        </p:nvSpPr>
        <p:spPr>
          <a:xfrm>
            <a:off x="731520" y="1783080"/>
            <a:ext cx="10744200" cy="1051560"/>
          </a:xfrm>
          <a:prstGeom prst="roundRect">
            <a:avLst/>
          </a:prstGeom>
          <a:solidFill>
            <a:srgbClr val="121422"/>
          </a:solidFill>
          <a:ln w="12700">
            <a:solidFill>
              <a:srgbClr val="FF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10287000" cy="868680"/>
          </a:xfrm>
          <a:prstGeom prst="rect">
            <a:avLst/>
          </a:prstGeom>
          <a:noFill/>
        </p:spPr>
        <p:txBody>
          <a:bodyPr wrap="square">
            <a:spAutoFit/>
          </a:bodyPr>
          <a:lstStyle/>
          <a:p>
            <a:pPr>
              <a:defRPr sz="1000" b="1">
                <a:solidFill>
                  <a:srgbClr val="FF5C7A"/>
                </a:solidFill>
              </a:defRPr>
            </a:pPr>
            <a:r>
              <a:t>CORE PROBLEM STATEMENT</a:t>
            </a:r>
          </a:p>
          <a:p>
            <a:pPr>
              <a:spcBef>
                <a:spcPts val="300"/>
              </a:spcBef>
              <a:defRPr sz="1400" b="1">
                <a:solidFill>
                  <a:srgbClr val="FFFFFF"/>
                </a:solidFill>
              </a:defRPr>
            </a:pPr>
            <a:r>
              <a:t>Film greenlighting commits $50M–$200M+ under extreme market uncertainty, compounded by 47% missing financial data in public catalogs and widespread post-release target leakage.</a:t>
            </a:r>
          </a:p>
        </p:txBody>
      </p:sp>
      <p:sp>
        <p:nvSpPr>
          <p:cNvPr id="7" name="Rounded Rectangle 6"/>
          <p:cNvSpPr/>
          <p:nvPr/>
        </p:nvSpPr>
        <p:spPr>
          <a:xfrm>
            <a:off x="731520" y="3063240"/>
            <a:ext cx="2514600" cy="214884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227832"/>
            <a:ext cx="2185416" cy="1819656"/>
          </a:xfrm>
          <a:prstGeom prst="rect">
            <a:avLst/>
          </a:prstGeom>
          <a:noFill/>
        </p:spPr>
        <p:txBody>
          <a:bodyPr wrap="square">
            <a:spAutoFit/>
          </a:bodyPr>
          <a:lstStyle/>
          <a:p>
            <a:pPr>
              <a:defRPr sz="1100" b="1">
                <a:solidFill>
                  <a:srgbClr val="8052FF"/>
                </a:solidFill>
              </a:defRPr>
            </a:pPr>
            <a:r>
              <a:t>GOAL 01</a:t>
            </a:r>
          </a:p>
          <a:p>
            <a:pPr>
              <a:spcBef>
                <a:spcPts val="400"/>
              </a:spcBef>
              <a:defRPr sz="1400" b="1">
                <a:solidFill>
                  <a:srgbClr val="FFFFFF"/>
                </a:solidFill>
              </a:defRPr>
            </a:pPr>
            <a:r>
              <a:t>Pre-Release Revenue Forecasting</a:t>
            </a:r>
          </a:p>
          <a:p>
            <a:pPr>
              <a:spcBef>
                <a:spcPts val="600"/>
              </a:spcBef>
              <a:defRPr sz="1100">
                <a:solidFill>
                  <a:srgbClr val="94A3B8"/>
                </a:solidFill>
              </a:defRPr>
            </a:pPr>
            <a:r>
              <a:t>Predict worldwide box office gross in log USD using strictly pre-release attributes.</a:t>
            </a:r>
          </a:p>
        </p:txBody>
      </p:sp>
      <p:sp>
        <p:nvSpPr>
          <p:cNvPr id="9" name="Rounded Rectangle 8"/>
          <p:cNvSpPr/>
          <p:nvPr/>
        </p:nvSpPr>
        <p:spPr>
          <a:xfrm>
            <a:off x="3474720" y="3063240"/>
            <a:ext cx="2514600" cy="214884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2" y="3227832"/>
            <a:ext cx="2185416" cy="1819656"/>
          </a:xfrm>
          <a:prstGeom prst="rect">
            <a:avLst/>
          </a:prstGeom>
          <a:noFill/>
        </p:spPr>
        <p:txBody>
          <a:bodyPr wrap="square">
            <a:spAutoFit/>
          </a:bodyPr>
          <a:lstStyle/>
          <a:p>
            <a:pPr>
              <a:defRPr sz="1100" b="1">
                <a:solidFill>
                  <a:srgbClr val="FFB829"/>
                </a:solidFill>
              </a:defRPr>
            </a:pPr>
            <a:r>
              <a:t>GOAL 02</a:t>
            </a:r>
          </a:p>
          <a:p>
            <a:pPr>
              <a:spcBef>
                <a:spcPts val="400"/>
              </a:spcBef>
              <a:defRPr sz="1400" b="1">
                <a:solidFill>
                  <a:srgbClr val="FFFFFF"/>
                </a:solidFill>
              </a:defRPr>
            </a:pPr>
            <a:r>
              <a:t>Four-Tier ROI Classification</a:t>
            </a:r>
          </a:p>
          <a:p>
            <a:pPr>
              <a:spcBef>
                <a:spcPts val="600"/>
              </a:spcBef>
              <a:defRPr sz="1100">
                <a:solidFill>
                  <a:srgbClr val="94A3B8"/>
                </a:solidFill>
              </a:defRPr>
            </a:pPr>
            <a:r>
              <a:t>Classify projects into Flop (&lt;0x), Break-even (0-1x), Hit (1-3x), and Blockbuster (≥3x).</a:t>
            </a:r>
          </a:p>
        </p:txBody>
      </p:sp>
      <p:sp>
        <p:nvSpPr>
          <p:cNvPr id="11" name="Rounded Rectangle 10"/>
          <p:cNvSpPr/>
          <p:nvPr/>
        </p:nvSpPr>
        <p:spPr>
          <a:xfrm>
            <a:off x="6217920" y="3063240"/>
            <a:ext cx="2514600" cy="214884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3227832"/>
            <a:ext cx="2185416" cy="1819656"/>
          </a:xfrm>
          <a:prstGeom prst="rect">
            <a:avLst/>
          </a:prstGeom>
          <a:noFill/>
        </p:spPr>
        <p:txBody>
          <a:bodyPr wrap="square">
            <a:spAutoFit/>
          </a:bodyPr>
          <a:lstStyle/>
          <a:p>
            <a:pPr>
              <a:defRPr sz="1100" b="1">
                <a:solidFill>
                  <a:srgbClr val="10B981"/>
                </a:solidFill>
              </a:defRPr>
            </a:pPr>
            <a:r>
              <a:t>GOAL 03</a:t>
            </a:r>
          </a:p>
          <a:p>
            <a:pPr>
              <a:spcBef>
                <a:spcPts val="400"/>
              </a:spcBef>
              <a:defRPr sz="1400" b="1">
                <a:solidFill>
                  <a:srgbClr val="FFFFFF"/>
                </a:solidFill>
              </a:defRPr>
            </a:pPr>
            <a:r>
              <a:t>Zero Target Leakage Discipline</a:t>
            </a:r>
          </a:p>
          <a:p>
            <a:pPr>
              <a:spcBef>
                <a:spcPts val="600"/>
              </a:spcBef>
              <a:defRPr sz="1100">
                <a:solidFill>
                  <a:srgbClr val="94A3B8"/>
                </a:solidFill>
              </a:defRPr>
            </a:pPr>
            <a:r>
              <a:t>Strict chronological cutoffs to eliminate post-release popularity and vote bias.</a:t>
            </a:r>
          </a:p>
        </p:txBody>
      </p:sp>
      <p:sp>
        <p:nvSpPr>
          <p:cNvPr id="13" name="Rounded Rectangle 12"/>
          <p:cNvSpPr/>
          <p:nvPr/>
        </p:nvSpPr>
        <p:spPr>
          <a:xfrm>
            <a:off x="8961120" y="3063240"/>
            <a:ext cx="2514600" cy="214884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3227832"/>
            <a:ext cx="2185416" cy="1819656"/>
          </a:xfrm>
          <a:prstGeom prst="rect">
            <a:avLst/>
          </a:prstGeom>
          <a:noFill/>
        </p:spPr>
        <p:txBody>
          <a:bodyPr wrap="square">
            <a:spAutoFit/>
          </a:bodyPr>
          <a:lstStyle/>
          <a:p>
            <a:pPr>
              <a:defRPr sz="1100" b="1">
                <a:solidFill>
                  <a:srgbClr val="8052FF"/>
                </a:solidFill>
              </a:defRPr>
            </a:pPr>
            <a:r>
              <a:t>GOAL 04</a:t>
            </a:r>
          </a:p>
          <a:p>
            <a:pPr>
              <a:spcBef>
                <a:spcPts val="400"/>
              </a:spcBef>
              <a:defRPr sz="1400" b="1">
                <a:solidFill>
                  <a:srgbClr val="FFFFFF"/>
                </a:solidFill>
              </a:defRPr>
            </a:pPr>
            <a:r>
              <a:t>Interactive What-If Simulation</a:t>
            </a:r>
          </a:p>
          <a:p>
            <a:pPr>
              <a:spcBef>
                <a:spcPts val="600"/>
              </a:spcBef>
              <a:defRPr sz="1100">
                <a:solidFill>
                  <a:srgbClr val="94A3B8"/>
                </a:solidFill>
              </a:defRPr>
            </a:pPr>
            <a:r>
              <a:t>Provide live sensitivity analysis for studio executives to test budgets and release dates.</a:t>
            </a:r>
          </a:p>
        </p:txBody>
      </p:sp>
      <p:sp>
        <p:nvSpPr>
          <p:cNvPr id="15" name="Rounded Rectangle 14"/>
          <p:cNvSpPr/>
          <p:nvPr/>
        </p:nvSpPr>
        <p:spPr>
          <a:xfrm>
            <a:off x="731520" y="5440680"/>
            <a:ext cx="10744200" cy="86868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532120"/>
            <a:ext cx="2679192" cy="685800"/>
          </a:xfrm>
          <a:prstGeom prst="rect">
            <a:avLst/>
          </a:prstGeom>
          <a:noFill/>
        </p:spPr>
        <p:txBody>
          <a:bodyPr wrap="square">
            <a:spAutoFit/>
          </a:bodyPr>
          <a:lstStyle/>
          <a:p>
            <a:pPr algn="ctr">
              <a:defRPr sz="1800" b="1">
                <a:solidFill>
                  <a:srgbClr val="FFB829"/>
                </a:solidFill>
              </a:defRPr>
            </a:pPr>
            <a:r>
              <a:t>47.74%</a:t>
            </a:r>
          </a:p>
          <a:p>
            <a:pPr algn="ctr">
              <a:defRPr sz="1000">
                <a:solidFill>
                  <a:srgbClr val="94A3B8"/>
                </a:solidFill>
              </a:defRPr>
            </a:pPr>
            <a:r>
              <a:t>Missing Budget in Raw Data</a:t>
            </a:r>
          </a:p>
        </p:txBody>
      </p:sp>
      <p:sp>
        <p:nvSpPr>
          <p:cNvPr id="17" name="TextBox 16"/>
          <p:cNvSpPr txBox="1"/>
          <p:nvPr/>
        </p:nvSpPr>
        <p:spPr>
          <a:xfrm>
            <a:off x="3410712" y="5532120"/>
            <a:ext cx="2679192" cy="685800"/>
          </a:xfrm>
          <a:prstGeom prst="rect">
            <a:avLst/>
          </a:prstGeom>
          <a:noFill/>
        </p:spPr>
        <p:txBody>
          <a:bodyPr wrap="square">
            <a:spAutoFit/>
          </a:bodyPr>
          <a:lstStyle/>
          <a:p>
            <a:pPr algn="ctr">
              <a:defRPr sz="1800" b="1">
                <a:solidFill>
                  <a:srgbClr val="8052FF"/>
                </a:solidFill>
              </a:defRPr>
            </a:pPr>
            <a:r>
              <a:t>44.32%</a:t>
            </a:r>
          </a:p>
          <a:p>
            <a:pPr algn="ctr">
              <a:defRPr sz="1000">
                <a:solidFill>
                  <a:srgbClr val="94A3B8"/>
                </a:solidFill>
              </a:defRPr>
            </a:pPr>
            <a:r>
              <a:t>Missing Revenue in Raw Data</a:t>
            </a:r>
          </a:p>
        </p:txBody>
      </p:sp>
      <p:sp>
        <p:nvSpPr>
          <p:cNvPr id="18" name="TextBox 17"/>
          <p:cNvSpPr txBox="1"/>
          <p:nvPr/>
        </p:nvSpPr>
        <p:spPr>
          <a:xfrm>
            <a:off x="6089904" y="5532120"/>
            <a:ext cx="2679192" cy="685800"/>
          </a:xfrm>
          <a:prstGeom prst="rect">
            <a:avLst/>
          </a:prstGeom>
          <a:noFill/>
        </p:spPr>
        <p:txBody>
          <a:bodyPr wrap="square">
            <a:spAutoFit/>
          </a:bodyPr>
          <a:lstStyle/>
          <a:p>
            <a:pPr algn="ctr">
              <a:defRPr sz="1800" b="1">
                <a:solidFill>
                  <a:srgbClr val="FFB829"/>
                </a:solidFill>
              </a:defRPr>
            </a:pPr>
            <a:r>
              <a:t>3,931</a:t>
            </a:r>
          </a:p>
          <a:p>
            <a:pPr algn="ctr">
              <a:defRPr sz="1000">
                <a:solidFill>
                  <a:srgbClr val="94A3B8"/>
                </a:solidFill>
              </a:defRPr>
            </a:pPr>
            <a:r>
              <a:t>Final Clean Verified Films</a:t>
            </a:r>
          </a:p>
        </p:txBody>
      </p:sp>
      <p:sp>
        <p:nvSpPr>
          <p:cNvPr id="19" name="TextBox 18"/>
          <p:cNvSpPr txBox="1"/>
          <p:nvPr/>
        </p:nvSpPr>
        <p:spPr>
          <a:xfrm>
            <a:off x="8769096" y="5532120"/>
            <a:ext cx="2679192" cy="685800"/>
          </a:xfrm>
          <a:prstGeom prst="rect">
            <a:avLst/>
          </a:prstGeom>
          <a:noFill/>
        </p:spPr>
        <p:txBody>
          <a:bodyPr wrap="square">
            <a:spAutoFit/>
          </a:bodyPr>
          <a:lstStyle/>
          <a:p>
            <a:pPr algn="ctr">
              <a:defRPr sz="1800" b="1">
                <a:solidFill>
                  <a:srgbClr val="8052FF"/>
                </a:solidFill>
              </a:defRPr>
            </a:pPr>
            <a:r>
              <a:t>56.98%</a:t>
            </a:r>
          </a:p>
          <a:p>
            <a:pPr algn="ctr">
              <a:defRPr sz="1000">
                <a:solidFill>
                  <a:srgbClr val="94A3B8"/>
                </a:solidFill>
              </a:defRPr>
            </a:pPr>
            <a:r>
              <a:t>Historical Hit/Blockbuster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DATA ENGINEERING &amp; AUDIT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Dataset Curation &amp; Quality Funnel</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Transforming 9,999 noisy raw records into 3,931 leakage-safe training samples</a:t>
            </a:r>
          </a:p>
        </p:txBody>
      </p:sp>
      <p:sp>
        <p:nvSpPr>
          <p:cNvPr id="5" name="Rounded Rectangle 4"/>
          <p:cNvSpPr/>
          <p:nvPr/>
        </p:nvSpPr>
        <p:spPr>
          <a:xfrm>
            <a:off x="731520" y="1783080"/>
            <a:ext cx="6766560" cy="3337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_audit_funnel.png"/>
          <p:cNvPicPr>
            <a:picLocks noChangeAspect="1"/>
          </p:cNvPicPr>
          <p:nvPr/>
        </p:nvPicPr>
        <p:blipFill>
          <a:blip r:embed="rId2"/>
          <a:stretch>
            <a:fillRect/>
          </a:stretch>
        </p:blipFill>
        <p:spPr>
          <a:xfrm>
            <a:off x="822960" y="1847088"/>
            <a:ext cx="6583680" cy="2657632"/>
          </a:xfrm>
          <a:prstGeom prst="rect">
            <a:avLst/>
          </a:prstGeom>
        </p:spPr>
      </p:pic>
      <p:sp>
        <p:nvSpPr>
          <p:cNvPr id="7" name="Rounded Rectangle 6"/>
          <p:cNvSpPr/>
          <p:nvPr/>
        </p:nvSpPr>
        <p:spPr>
          <a:xfrm>
            <a:off x="7680960" y="1783080"/>
            <a:ext cx="3794760" cy="3337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ier_distribution.png"/>
          <p:cNvPicPr>
            <a:picLocks noChangeAspect="1"/>
          </p:cNvPicPr>
          <p:nvPr/>
        </p:nvPicPr>
        <p:blipFill>
          <a:blip r:embed="rId3"/>
          <a:stretch>
            <a:fillRect/>
          </a:stretch>
        </p:blipFill>
        <p:spPr>
          <a:xfrm>
            <a:off x="7772400" y="1847088"/>
            <a:ext cx="3611880" cy="2313861"/>
          </a:xfrm>
          <a:prstGeom prst="rect">
            <a:avLst/>
          </a:prstGeom>
        </p:spPr>
      </p:pic>
      <p:sp>
        <p:nvSpPr>
          <p:cNvPr id="9" name="Rounded Rectangle 8"/>
          <p:cNvSpPr/>
          <p:nvPr/>
        </p:nvSpPr>
        <p:spPr>
          <a:xfrm>
            <a:off x="731520" y="5303520"/>
            <a:ext cx="3429000" cy="118872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5394960"/>
            <a:ext cx="3099816" cy="1005840"/>
          </a:xfrm>
          <a:prstGeom prst="rect">
            <a:avLst/>
          </a:prstGeom>
          <a:noFill/>
        </p:spPr>
        <p:txBody>
          <a:bodyPr wrap="square">
            <a:spAutoFit/>
          </a:bodyPr>
          <a:lstStyle/>
          <a:p>
            <a:pPr>
              <a:defRPr sz="950" b="1">
                <a:solidFill>
                  <a:srgbClr val="FF5C7A"/>
                </a:solidFill>
              </a:defRPr>
            </a:pPr>
            <a:r>
              <a:t>47.7% MISSING FINANCIALS</a:t>
            </a:r>
          </a:p>
          <a:p>
            <a:pPr>
              <a:spcBef>
                <a:spcPts val="200"/>
              </a:spcBef>
              <a:defRPr sz="1200" b="1">
                <a:solidFill>
                  <a:srgbClr val="FFFFFF"/>
                </a:solidFill>
              </a:defRPr>
            </a:pPr>
            <a:r>
              <a:t>Handled Non-Silently</a:t>
            </a:r>
          </a:p>
          <a:p>
            <a:pPr>
              <a:spcBef>
                <a:spcPts val="300"/>
              </a:spcBef>
              <a:defRPr sz="900">
                <a:solidFill>
                  <a:srgbClr val="94A3B8"/>
                </a:solidFill>
              </a:defRPr>
            </a:pPr>
            <a:r>
              <a:t>Raw zeros reflect unrecorded telemetry rather than actual zero spend. Excluded from supervised training without synthetic imputation.</a:t>
            </a:r>
          </a:p>
        </p:txBody>
      </p:sp>
      <p:sp>
        <p:nvSpPr>
          <p:cNvPr id="11" name="Rounded Rectangle 10"/>
          <p:cNvSpPr/>
          <p:nvPr/>
        </p:nvSpPr>
        <p:spPr>
          <a:xfrm>
            <a:off x="4389120" y="5303520"/>
            <a:ext cx="3429000" cy="118872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5394960"/>
            <a:ext cx="3099816" cy="1005840"/>
          </a:xfrm>
          <a:prstGeom prst="rect">
            <a:avLst/>
          </a:prstGeom>
          <a:noFill/>
        </p:spPr>
        <p:txBody>
          <a:bodyPr wrap="square">
            <a:spAutoFit/>
          </a:bodyPr>
          <a:lstStyle/>
          <a:p>
            <a:pPr>
              <a:defRPr sz="950" b="1">
                <a:solidFill>
                  <a:srgbClr val="FFB829"/>
                </a:solidFill>
              </a:defRPr>
            </a:pPr>
            <a:r>
              <a:t>232 DUPLICATE SNAPSHOTS</a:t>
            </a:r>
          </a:p>
          <a:p>
            <a:pPr>
              <a:spcBef>
                <a:spcPts val="200"/>
              </a:spcBef>
              <a:defRPr sz="1200" b="1">
                <a:solidFill>
                  <a:srgbClr val="FFFFFF"/>
                </a:solidFill>
              </a:defRPr>
            </a:pPr>
            <a:r>
              <a:t>Completeness-Based Retention</a:t>
            </a:r>
          </a:p>
          <a:p>
            <a:pPr>
              <a:spcBef>
                <a:spcPts val="300"/>
              </a:spcBef>
              <a:defRPr sz="900">
                <a:solidFill>
                  <a:srgbClr val="94A3B8"/>
                </a:solidFill>
              </a:defRPr>
            </a:pPr>
            <a:r>
              <a:t>Multi-attribute scoring retained exactly one most complete record per film ID, preserving 9,767 unique movies.</a:t>
            </a:r>
          </a:p>
        </p:txBody>
      </p:sp>
      <p:sp>
        <p:nvSpPr>
          <p:cNvPr id="13" name="Rounded Rectangle 12"/>
          <p:cNvSpPr/>
          <p:nvPr/>
        </p:nvSpPr>
        <p:spPr>
          <a:xfrm>
            <a:off x="8046720" y="5303520"/>
            <a:ext cx="3429000" cy="118872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5394960"/>
            <a:ext cx="3099816" cy="1005840"/>
          </a:xfrm>
          <a:prstGeom prst="rect">
            <a:avLst/>
          </a:prstGeom>
          <a:noFill/>
        </p:spPr>
        <p:txBody>
          <a:bodyPr wrap="square">
            <a:spAutoFit/>
          </a:bodyPr>
          <a:lstStyle/>
          <a:p>
            <a:pPr>
              <a:defRPr sz="950" b="1">
                <a:solidFill>
                  <a:srgbClr val="10B981"/>
                </a:solidFill>
              </a:defRPr>
            </a:pPr>
            <a:r>
              <a:t>TEMPORAL STABILITY</a:t>
            </a:r>
          </a:p>
          <a:p>
            <a:pPr>
              <a:spcBef>
                <a:spcPts val="200"/>
              </a:spcBef>
              <a:defRPr sz="1200" b="1">
                <a:solidFill>
                  <a:srgbClr val="FFFFFF"/>
                </a:solidFill>
              </a:defRPr>
            </a:pPr>
            <a:r>
              <a:t>1990–2025 Release Window</a:t>
            </a:r>
          </a:p>
          <a:p>
            <a:pPr>
              <a:spcBef>
                <a:spcPts val="300"/>
              </a:spcBef>
              <a:defRPr sz="900">
                <a:solidFill>
                  <a:srgbClr val="94A3B8"/>
                </a:solidFill>
              </a:defRPr>
            </a:pPr>
            <a:r>
              <a:t>Historical pre-1990 releases and future releases up to 2031 filtered to maintain modern macroeconomic consistency.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TECHNICAL BLUEPRINT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End-to-End System Architecture</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Multi-stage pipeline spanning ingestion, leakage-safe feature engineering, REST APIs, and UI</a:t>
            </a:r>
          </a:p>
        </p:txBody>
      </p:sp>
      <p:sp>
        <p:nvSpPr>
          <p:cNvPr id="5" name="Rounded Rectangle 4"/>
          <p:cNvSpPr/>
          <p:nvPr/>
        </p:nvSpPr>
        <p:spPr>
          <a:xfrm>
            <a:off x="731520" y="1874519"/>
            <a:ext cx="242316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79"/>
            <a:ext cx="2148840" cy="685800"/>
          </a:xfrm>
          <a:prstGeom prst="rect">
            <a:avLst/>
          </a:prstGeom>
          <a:noFill/>
        </p:spPr>
        <p:txBody>
          <a:bodyPr wrap="square">
            <a:spAutoFit/>
          </a:bodyPr>
          <a:lstStyle/>
          <a:p>
            <a:pPr>
              <a:defRPr sz="1000" b="1">
                <a:solidFill>
                  <a:srgbClr val="94A3B8"/>
                </a:solidFill>
              </a:defRPr>
            </a:pPr>
            <a:r>
              <a:t>STAGE 1</a:t>
            </a:r>
          </a:p>
          <a:p>
            <a:pPr>
              <a:spcBef>
                <a:spcPts val="300"/>
              </a:spcBef>
              <a:defRPr sz="1300" b="1">
                <a:solidFill>
                  <a:srgbClr val="FFFFFF"/>
                </a:solidFill>
              </a:defRPr>
            </a:pPr>
            <a:r>
              <a:t>Data Ingestion &amp; Audit</a:t>
            </a:r>
          </a:p>
        </p:txBody>
      </p:sp>
      <p:sp>
        <p:nvSpPr>
          <p:cNvPr id="7" name="Rounded Rectangle 6"/>
          <p:cNvSpPr/>
          <p:nvPr/>
        </p:nvSpPr>
        <p:spPr>
          <a:xfrm>
            <a:off x="841248" y="274319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798063"/>
            <a:ext cx="2093976" cy="640080"/>
          </a:xfrm>
          <a:prstGeom prst="rect">
            <a:avLst/>
          </a:prstGeom>
          <a:noFill/>
        </p:spPr>
        <p:txBody>
          <a:bodyPr wrap="square">
            <a:spAutoFit/>
          </a:bodyPr>
          <a:lstStyle/>
          <a:p>
            <a:pPr>
              <a:defRPr sz="1050" b="1">
                <a:solidFill>
                  <a:srgbClr val="FFFFFF"/>
                </a:solidFill>
              </a:defRPr>
            </a:pPr>
            <a:r>
              <a:t>Raw TMDB Catalog</a:t>
            </a:r>
          </a:p>
          <a:p>
            <a:pPr>
              <a:spcBef>
                <a:spcPts val="200"/>
              </a:spcBef>
              <a:defRPr sz="900">
                <a:solidFill>
                  <a:srgbClr val="94A3B8"/>
                </a:solidFill>
              </a:defRPr>
            </a:pPr>
            <a:r>
              <a:t>9,999 rows, 15 raw columns</a:t>
            </a:r>
          </a:p>
        </p:txBody>
      </p:sp>
      <p:sp>
        <p:nvSpPr>
          <p:cNvPr id="9" name="Rounded Rectangle 8"/>
          <p:cNvSpPr/>
          <p:nvPr/>
        </p:nvSpPr>
        <p:spPr>
          <a:xfrm>
            <a:off x="841248" y="356615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621023"/>
            <a:ext cx="2093976" cy="640080"/>
          </a:xfrm>
          <a:prstGeom prst="rect">
            <a:avLst/>
          </a:prstGeom>
          <a:noFill/>
        </p:spPr>
        <p:txBody>
          <a:bodyPr wrap="square">
            <a:spAutoFit/>
          </a:bodyPr>
          <a:lstStyle/>
          <a:p>
            <a:pPr>
              <a:defRPr sz="1050" b="1">
                <a:solidFill>
                  <a:srgbClr val="FFFFFF"/>
                </a:solidFill>
              </a:defRPr>
            </a:pPr>
            <a:r>
              <a:t>Completeness Audit</a:t>
            </a:r>
          </a:p>
          <a:p>
            <a:pPr>
              <a:spcBef>
                <a:spcPts val="200"/>
              </a:spcBef>
              <a:defRPr sz="900">
                <a:solidFill>
                  <a:srgbClr val="94A3B8"/>
                </a:solidFill>
              </a:defRPr>
            </a:pPr>
            <a:r>
              <a:t>Resolved 232 duplicates</a:t>
            </a:r>
          </a:p>
        </p:txBody>
      </p:sp>
      <p:sp>
        <p:nvSpPr>
          <p:cNvPr id="11" name="Rounded Rectangle 10"/>
          <p:cNvSpPr/>
          <p:nvPr/>
        </p:nvSpPr>
        <p:spPr>
          <a:xfrm>
            <a:off x="841248" y="438911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3"/>
            <a:ext cx="2093976" cy="640080"/>
          </a:xfrm>
          <a:prstGeom prst="rect">
            <a:avLst/>
          </a:prstGeom>
          <a:noFill/>
        </p:spPr>
        <p:txBody>
          <a:bodyPr wrap="square">
            <a:spAutoFit/>
          </a:bodyPr>
          <a:lstStyle/>
          <a:p>
            <a:pPr>
              <a:defRPr sz="1050" b="1">
                <a:solidFill>
                  <a:srgbClr val="FFFFFF"/>
                </a:solidFill>
              </a:defRPr>
            </a:pPr>
            <a:r>
              <a:t>Type Sanitation</a:t>
            </a:r>
          </a:p>
          <a:p>
            <a:pPr>
              <a:spcBef>
                <a:spcPts val="200"/>
              </a:spcBef>
              <a:defRPr sz="900">
                <a:solidFill>
                  <a:srgbClr val="94A3B8"/>
                </a:solidFill>
              </a:defRPr>
            </a:pPr>
            <a:r>
              <a:t>ast.literal_eval list parser</a:t>
            </a:r>
          </a:p>
        </p:txBody>
      </p:sp>
      <p:sp>
        <p:nvSpPr>
          <p:cNvPr id="13" name="Rounded Rectangle 12"/>
          <p:cNvSpPr/>
          <p:nvPr/>
        </p:nvSpPr>
        <p:spPr>
          <a:xfrm>
            <a:off x="841248" y="521207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5266943"/>
            <a:ext cx="2093976" cy="640080"/>
          </a:xfrm>
          <a:prstGeom prst="rect">
            <a:avLst/>
          </a:prstGeom>
          <a:noFill/>
        </p:spPr>
        <p:txBody>
          <a:bodyPr wrap="square">
            <a:spAutoFit/>
          </a:bodyPr>
          <a:lstStyle/>
          <a:p>
            <a:pPr>
              <a:defRPr sz="1050" b="1">
                <a:solidFill>
                  <a:srgbClr val="FFFFFF"/>
                </a:solidFill>
              </a:defRPr>
            </a:pPr>
            <a:r>
              <a:t>Interim Parquet</a:t>
            </a:r>
          </a:p>
          <a:p>
            <a:pPr>
              <a:spcBef>
                <a:spcPts val="200"/>
              </a:spcBef>
              <a:defRPr sz="900">
                <a:solidFill>
                  <a:srgbClr val="94A3B8"/>
                </a:solidFill>
              </a:defRPr>
            </a:pPr>
            <a:r>
              <a:t>9,767 parsed unique movies</a:t>
            </a:r>
          </a:p>
        </p:txBody>
      </p:sp>
      <p:sp>
        <p:nvSpPr>
          <p:cNvPr id="15" name="TextBox 14"/>
          <p:cNvSpPr txBox="1"/>
          <p:nvPr/>
        </p:nvSpPr>
        <p:spPr>
          <a:xfrm>
            <a:off x="3227832" y="3886199"/>
            <a:ext cx="228600" cy="365760"/>
          </a:xfrm>
          <a:prstGeom prst="rect">
            <a:avLst/>
          </a:prstGeom>
          <a:noFill/>
        </p:spPr>
        <p:txBody>
          <a:bodyPr wrap="none">
            <a:spAutoFit/>
          </a:bodyPr>
          <a:lstStyle/>
          <a:p>
            <a:pPr algn="ctr">
              <a:defRPr sz="1800" b="1">
                <a:solidFill>
                  <a:srgbClr val="8052FF"/>
                </a:solidFill>
              </a:defRPr>
            </a:pPr>
            <a:r>
              <a:t>➔</a:t>
            </a:r>
          </a:p>
        </p:txBody>
      </p:sp>
      <p:sp>
        <p:nvSpPr>
          <p:cNvPr id="16" name="Rounded Rectangle 15"/>
          <p:cNvSpPr/>
          <p:nvPr/>
        </p:nvSpPr>
        <p:spPr>
          <a:xfrm>
            <a:off x="3502152" y="1874519"/>
            <a:ext cx="242316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9312" y="2011679"/>
            <a:ext cx="2148840" cy="685800"/>
          </a:xfrm>
          <a:prstGeom prst="rect">
            <a:avLst/>
          </a:prstGeom>
          <a:noFill/>
        </p:spPr>
        <p:txBody>
          <a:bodyPr wrap="square">
            <a:spAutoFit/>
          </a:bodyPr>
          <a:lstStyle/>
          <a:p>
            <a:pPr>
              <a:defRPr sz="1000" b="1">
                <a:solidFill>
                  <a:srgbClr val="8052FF"/>
                </a:solidFill>
              </a:defRPr>
            </a:pPr>
            <a:r>
              <a:t>STAGE 2</a:t>
            </a:r>
          </a:p>
          <a:p>
            <a:pPr>
              <a:spcBef>
                <a:spcPts val="300"/>
              </a:spcBef>
              <a:defRPr sz="1300" b="1">
                <a:solidFill>
                  <a:srgbClr val="FFFFFF"/>
                </a:solidFill>
              </a:defRPr>
            </a:pPr>
            <a:r>
              <a:t>Leakage-Safe Features</a:t>
            </a:r>
          </a:p>
        </p:txBody>
      </p:sp>
      <p:sp>
        <p:nvSpPr>
          <p:cNvPr id="18" name="Rounded Rectangle 17"/>
          <p:cNvSpPr/>
          <p:nvPr/>
        </p:nvSpPr>
        <p:spPr>
          <a:xfrm>
            <a:off x="3611880" y="274319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6744" y="2798063"/>
            <a:ext cx="2093976" cy="640080"/>
          </a:xfrm>
          <a:prstGeom prst="rect">
            <a:avLst/>
          </a:prstGeom>
          <a:noFill/>
        </p:spPr>
        <p:txBody>
          <a:bodyPr wrap="square">
            <a:spAutoFit/>
          </a:bodyPr>
          <a:lstStyle/>
          <a:p>
            <a:pPr>
              <a:defRPr sz="1050" b="1">
                <a:solidFill>
                  <a:srgbClr val="FFFFFF"/>
                </a:solidFill>
              </a:defRPr>
            </a:pPr>
            <a:r>
              <a:t>Chronological Rolling Priors</a:t>
            </a:r>
          </a:p>
          <a:p>
            <a:pPr>
              <a:spcBef>
                <a:spcPts val="200"/>
              </a:spcBef>
              <a:defRPr sz="900">
                <a:solidFill>
                  <a:srgbClr val="94A3B8"/>
                </a:solidFill>
              </a:defRPr>
            </a:pPr>
            <a:r>
              <a:t>Director &amp; studio historic gross</a:t>
            </a:r>
          </a:p>
        </p:txBody>
      </p:sp>
      <p:sp>
        <p:nvSpPr>
          <p:cNvPr id="20" name="Rounded Rectangle 19"/>
          <p:cNvSpPr/>
          <p:nvPr/>
        </p:nvSpPr>
        <p:spPr>
          <a:xfrm>
            <a:off x="3611880" y="356615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6744" y="3621023"/>
            <a:ext cx="2093976" cy="640080"/>
          </a:xfrm>
          <a:prstGeom prst="rect">
            <a:avLst/>
          </a:prstGeom>
          <a:noFill/>
        </p:spPr>
        <p:txBody>
          <a:bodyPr wrap="square">
            <a:spAutoFit/>
          </a:bodyPr>
          <a:lstStyle/>
          <a:p>
            <a:pPr>
              <a:defRPr sz="1050" b="1">
                <a:solidFill>
                  <a:srgbClr val="FFFFFF"/>
                </a:solidFill>
              </a:defRPr>
            </a:pPr>
            <a:r>
              <a:t>Genre Encoders</a:t>
            </a:r>
          </a:p>
          <a:p>
            <a:pPr>
              <a:spcBef>
                <a:spcPts val="200"/>
              </a:spcBef>
              <a:defRPr sz="900">
                <a:solidFill>
                  <a:srgbClr val="94A3B8"/>
                </a:solidFill>
              </a:defRPr>
            </a:pPr>
            <a:r>
              <a:t>17 multi-hot genre flags</a:t>
            </a:r>
          </a:p>
        </p:txBody>
      </p:sp>
      <p:sp>
        <p:nvSpPr>
          <p:cNvPr id="22" name="Rounded Rectangle 21"/>
          <p:cNvSpPr/>
          <p:nvPr/>
        </p:nvSpPr>
        <p:spPr>
          <a:xfrm>
            <a:off x="3611880" y="438911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66744" y="4443983"/>
            <a:ext cx="2093976" cy="640080"/>
          </a:xfrm>
          <a:prstGeom prst="rect">
            <a:avLst/>
          </a:prstGeom>
          <a:noFill/>
        </p:spPr>
        <p:txBody>
          <a:bodyPr wrap="square">
            <a:spAutoFit/>
          </a:bodyPr>
          <a:lstStyle/>
          <a:p>
            <a:pPr>
              <a:defRPr sz="1050" b="1">
                <a:solidFill>
                  <a:srgbClr val="FFFFFF"/>
                </a:solidFill>
              </a:defRPr>
            </a:pPr>
            <a:r>
              <a:t>Temporal Splitting</a:t>
            </a:r>
          </a:p>
          <a:p>
            <a:pPr>
              <a:spcBef>
                <a:spcPts val="200"/>
              </a:spcBef>
              <a:defRPr sz="900">
                <a:solidFill>
                  <a:srgbClr val="94A3B8"/>
                </a:solidFill>
              </a:defRPr>
            </a:pPr>
            <a:r>
              <a:t>Train: 1990-2022 | Test: 2023-2025</a:t>
            </a:r>
          </a:p>
        </p:txBody>
      </p:sp>
      <p:sp>
        <p:nvSpPr>
          <p:cNvPr id="24" name="Rounded Rectangle 23"/>
          <p:cNvSpPr/>
          <p:nvPr/>
        </p:nvSpPr>
        <p:spPr>
          <a:xfrm>
            <a:off x="3611880" y="521207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66744" y="5266943"/>
            <a:ext cx="2093976" cy="640080"/>
          </a:xfrm>
          <a:prstGeom prst="rect">
            <a:avLst/>
          </a:prstGeom>
          <a:noFill/>
        </p:spPr>
        <p:txBody>
          <a:bodyPr wrap="square">
            <a:spAutoFit/>
          </a:bodyPr>
          <a:lstStyle/>
          <a:p>
            <a:pPr>
              <a:defRPr sz="1050" b="1">
                <a:solidFill>
                  <a:srgbClr val="FFFFFF"/>
                </a:solidFill>
              </a:defRPr>
            </a:pPr>
            <a:r>
              <a:t>Feature Manifest</a:t>
            </a:r>
          </a:p>
          <a:p>
            <a:pPr>
              <a:spcBef>
                <a:spcPts val="200"/>
              </a:spcBef>
              <a:defRPr sz="900">
                <a:solidFill>
                  <a:srgbClr val="94A3B8"/>
                </a:solidFill>
              </a:defRPr>
            </a:pPr>
            <a:r>
              <a:t>34 clean pre-release inputs</a:t>
            </a:r>
          </a:p>
        </p:txBody>
      </p:sp>
      <p:sp>
        <p:nvSpPr>
          <p:cNvPr id="26" name="TextBox 25"/>
          <p:cNvSpPr txBox="1"/>
          <p:nvPr/>
        </p:nvSpPr>
        <p:spPr>
          <a:xfrm>
            <a:off x="5998464" y="3886199"/>
            <a:ext cx="228600" cy="365760"/>
          </a:xfrm>
          <a:prstGeom prst="rect">
            <a:avLst/>
          </a:prstGeom>
          <a:noFill/>
        </p:spPr>
        <p:txBody>
          <a:bodyPr wrap="none">
            <a:spAutoFit/>
          </a:bodyPr>
          <a:lstStyle/>
          <a:p>
            <a:pPr algn="ctr">
              <a:defRPr sz="1800" b="1">
                <a:solidFill>
                  <a:srgbClr val="8052FF"/>
                </a:solidFill>
              </a:defRPr>
            </a:pPr>
            <a:r>
              <a:t>➔</a:t>
            </a:r>
          </a:p>
        </p:txBody>
      </p:sp>
      <p:sp>
        <p:nvSpPr>
          <p:cNvPr id="27" name="Rounded Rectangle 26"/>
          <p:cNvSpPr/>
          <p:nvPr/>
        </p:nvSpPr>
        <p:spPr>
          <a:xfrm>
            <a:off x="6272784" y="1874519"/>
            <a:ext cx="242316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9944" y="2011679"/>
            <a:ext cx="2148840" cy="685800"/>
          </a:xfrm>
          <a:prstGeom prst="rect">
            <a:avLst/>
          </a:prstGeom>
          <a:noFill/>
        </p:spPr>
        <p:txBody>
          <a:bodyPr wrap="square">
            <a:spAutoFit/>
          </a:bodyPr>
          <a:lstStyle/>
          <a:p>
            <a:pPr>
              <a:defRPr sz="1000" b="1">
                <a:solidFill>
                  <a:srgbClr val="FFB829"/>
                </a:solidFill>
              </a:defRPr>
            </a:pPr>
            <a:r>
              <a:t>STAGE 3</a:t>
            </a:r>
          </a:p>
          <a:p>
            <a:pPr>
              <a:spcBef>
                <a:spcPts val="300"/>
              </a:spcBef>
              <a:defRPr sz="1300" b="1">
                <a:solidFill>
                  <a:srgbClr val="FFFFFF"/>
                </a:solidFill>
              </a:defRPr>
            </a:pPr>
            <a:r>
              <a:t>ML Optimization &amp; Registry</a:t>
            </a:r>
          </a:p>
        </p:txBody>
      </p:sp>
      <p:sp>
        <p:nvSpPr>
          <p:cNvPr id="29" name="Rounded Rectangle 28"/>
          <p:cNvSpPr/>
          <p:nvPr/>
        </p:nvSpPr>
        <p:spPr>
          <a:xfrm>
            <a:off x="6382512" y="274319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2798063"/>
            <a:ext cx="2093976" cy="640080"/>
          </a:xfrm>
          <a:prstGeom prst="rect">
            <a:avLst/>
          </a:prstGeom>
          <a:noFill/>
        </p:spPr>
        <p:txBody>
          <a:bodyPr wrap="square">
            <a:spAutoFit/>
          </a:bodyPr>
          <a:lstStyle/>
          <a:p>
            <a:pPr>
              <a:defRPr sz="1050" b="1">
                <a:solidFill>
                  <a:srgbClr val="FFFFFF"/>
                </a:solidFill>
              </a:defRPr>
            </a:pPr>
            <a:r>
              <a:t>Baseline Ridge</a:t>
            </a:r>
          </a:p>
          <a:p>
            <a:pPr>
              <a:spcBef>
                <a:spcPts val="200"/>
              </a:spcBef>
              <a:defRPr sz="900">
                <a:solidFill>
                  <a:srgbClr val="94A3B8"/>
                </a:solidFill>
              </a:defRPr>
            </a:pPr>
            <a:r>
              <a:t>L2 regularized benchmark</a:t>
            </a:r>
          </a:p>
        </p:txBody>
      </p:sp>
      <p:sp>
        <p:nvSpPr>
          <p:cNvPr id="31" name="Rounded Rectangle 30"/>
          <p:cNvSpPr/>
          <p:nvPr/>
        </p:nvSpPr>
        <p:spPr>
          <a:xfrm>
            <a:off x="6382512" y="356615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7376" y="3621023"/>
            <a:ext cx="2093976" cy="640080"/>
          </a:xfrm>
          <a:prstGeom prst="rect">
            <a:avLst/>
          </a:prstGeom>
          <a:noFill/>
        </p:spPr>
        <p:txBody>
          <a:bodyPr wrap="square">
            <a:spAutoFit/>
          </a:bodyPr>
          <a:lstStyle/>
          <a:p>
            <a:pPr>
              <a:defRPr sz="1050" b="1">
                <a:solidFill>
                  <a:srgbClr val="FFFFFF"/>
                </a:solidFill>
              </a:defRPr>
            </a:pPr>
            <a:r>
              <a:t>Optuna Tuning</a:t>
            </a:r>
          </a:p>
          <a:p>
            <a:pPr>
              <a:spcBef>
                <a:spcPts val="200"/>
              </a:spcBef>
              <a:defRPr sz="900">
                <a:solidFill>
                  <a:srgbClr val="94A3B8"/>
                </a:solidFill>
              </a:defRPr>
            </a:pPr>
            <a:r>
              <a:t>5-fold TimeSeriesSplit CV</a:t>
            </a:r>
          </a:p>
        </p:txBody>
      </p:sp>
      <p:sp>
        <p:nvSpPr>
          <p:cNvPr id="33" name="Rounded Rectangle 32"/>
          <p:cNvSpPr/>
          <p:nvPr/>
        </p:nvSpPr>
        <p:spPr>
          <a:xfrm>
            <a:off x="6382512" y="438911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443983"/>
            <a:ext cx="2093976" cy="640080"/>
          </a:xfrm>
          <a:prstGeom prst="rect">
            <a:avLst/>
          </a:prstGeom>
          <a:noFill/>
        </p:spPr>
        <p:txBody>
          <a:bodyPr wrap="square">
            <a:spAutoFit/>
          </a:bodyPr>
          <a:lstStyle/>
          <a:p>
            <a:pPr>
              <a:defRPr sz="1050" b="1">
                <a:solidFill>
                  <a:srgbClr val="FFFFFF"/>
                </a:solidFill>
              </a:defRPr>
            </a:pPr>
            <a:r>
              <a:t>TreeExplainer SHAP</a:t>
            </a:r>
          </a:p>
          <a:p>
            <a:pPr>
              <a:spcBef>
                <a:spcPts val="200"/>
              </a:spcBef>
              <a:defRPr sz="900">
                <a:solidFill>
                  <a:srgbClr val="94A3B8"/>
                </a:solidFill>
              </a:defRPr>
            </a:pPr>
            <a:r>
              <a:t>Waterfall cache for 383 test films</a:t>
            </a:r>
          </a:p>
        </p:txBody>
      </p:sp>
      <p:sp>
        <p:nvSpPr>
          <p:cNvPr id="35" name="Rounded Rectangle 34"/>
          <p:cNvSpPr/>
          <p:nvPr/>
        </p:nvSpPr>
        <p:spPr>
          <a:xfrm>
            <a:off x="6382512" y="521207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37376" y="5266943"/>
            <a:ext cx="2093976" cy="640080"/>
          </a:xfrm>
          <a:prstGeom prst="rect">
            <a:avLst/>
          </a:prstGeom>
          <a:noFill/>
        </p:spPr>
        <p:txBody>
          <a:bodyPr wrap="square">
            <a:spAutoFit/>
          </a:bodyPr>
          <a:lstStyle/>
          <a:p>
            <a:pPr>
              <a:defRPr sz="1050" b="1">
                <a:solidFill>
                  <a:srgbClr val="FFFFFF"/>
                </a:solidFill>
              </a:defRPr>
            </a:pPr>
            <a:r>
              <a:t>Model Registry</a:t>
            </a:r>
          </a:p>
          <a:p>
            <a:pPr>
              <a:spcBef>
                <a:spcPts val="200"/>
              </a:spcBef>
              <a:defRPr sz="900">
                <a:solidFill>
                  <a:srgbClr val="94A3B8"/>
                </a:solidFill>
              </a:defRPr>
            </a:pPr>
            <a:r>
              <a:t>Serialized joblib artifacts</a:t>
            </a:r>
          </a:p>
        </p:txBody>
      </p:sp>
      <p:sp>
        <p:nvSpPr>
          <p:cNvPr id="37" name="TextBox 36"/>
          <p:cNvSpPr txBox="1"/>
          <p:nvPr/>
        </p:nvSpPr>
        <p:spPr>
          <a:xfrm>
            <a:off x="8769096" y="3886199"/>
            <a:ext cx="228600" cy="365760"/>
          </a:xfrm>
          <a:prstGeom prst="rect">
            <a:avLst/>
          </a:prstGeom>
          <a:noFill/>
        </p:spPr>
        <p:txBody>
          <a:bodyPr wrap="none">
            <a:spAutoFit/>
          </a:bodyPr>
          <a:lstStyle/>
          <a:p>
            <a:pPr algn="ctr">
              <a:defRPr sz="1800" b="1">
                <a:solidFill>
                  <a:srgbClr val="8052FF"/>
                </a:solidFill>
              </a:defRPr>
            </a:pPr>
            <a:r>
              <a:t>➔</a:t>
            </a:r>
          </a:p>
        </p:txBody>
      </p:sp>
      <p:sp>
        <p:nvSpPr>
          <p:cNvPr id="38" name="Rounded Rectangle 37"/>
          <p:cNvSpPr/>
          <p:nvPr/>
        </p:nvSpPr>
        <p:spPr>
          <a:xfrm>
            <a:off x="9043416" y="1874519"/>
            <a:ext cx="242316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80576" y="2011679"/>
            <a:ext cx="2148840" cy="685800"/>
          </a:xfrm>
          <a:prstGeom prst="rect">
            <a:avLst/>
          </a:prstGeom>
          <a:noFill/>
        </p:spPr>
        <p:txBody>
          <a:bodyPr wrap="square">
            <a:spAutoFit/>
          </a:bodyPr>
          <a:lstStyle/>
          <a:p>
            <a:pPr>
              <a:defRPr sz="1000" b="1">
                <a:solidFill>
                  <a:srgbClr val="10B981"/>
                </a:solidFill>
              </a:defRPr>
            </a:pPr>
            <a:r>
              <a:t>STAGE 4</a:t>
            </a:r>
          </a:p>
          <a:p>
            <a:pPr>
              <a:spcBef>
                <a:spcPts val="300"/>
              </a:spcBef>
              <a:defRPr sz="1300" b="1">
                <a:solidFill>
                  <a:srgbClr val="FFFFFF"/>
                </a:solidFill>
              </a:defRPr>
            </a:pPr>
            <a:r>
              <a:t>Application &amp; Serving</a:t>
            </a:r>
          </a:p>
        </p:txBody>
      </p:sp>
      <p:sp>
        <p:nvSpPr>
          <p:cNvPr id="40" name="Rounded Rectangle 39"/>
          <p:cNvSpPr/>
          <p:nvPr/>
        </p:nvSpPr>
        <p:spPr>
          <a:xfrm>
            <a:off x="9153144" y="274319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08008" y="2798063"/>
            <a:ext cx="2093976" cy="640080"/>
          </a:xfrm>
          <a:prstGeom prst="rect">
            <a:avLst/>
          </a:prstGeom>
          <a:noFill/>
        </p:spPr>
        <p:txBody>
          <a:bodyPr wrap="square">
            <a:spAutoFit/>
          </a:bodyPr>
          <a:lstStyle/>
          <a:p>
            <a:pPr>
              <a:defRPr sz="1050" b="1">
                <a:solidFill>
                  <a:srgbClr val="FFFFFF"/>
                </a:solidFill>
              </a:defRPr>
            </a:pPr>
            <a:r>
              <a:t>FastAPI Backend</a:t>
            </a:r>
          </a:p>
          <a:p>
            <a:pPr>
              <a:spcBef>
                <a:spcPts val="200"/>
              </a:spcBef>
              <a:defRPr sz="900">
                <a:solidFill>
                  <a:srgbClr val="94A3B8"/>
                </a:solidFill>
              </a:defRPr>
            </a:pPr>
            <a:r>
              <a:t>/api/predict, /api/whatif, /api/shap</a:t>
            </a:r>
          </a:p>
        </p:txBody>
      </p:sp>
      <p:sp>
        <p:nvSpPr>
          <p:cNvPr id="42" name="Rounded Rectangle 41"/>
          <p:cNvSpPr/>
          <p:nvPr/>
        </p:nvSpPr>
        <p:spPr>
          <a:xfrm>
            <a:off x="9153144" y="356615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08008" y="3621023"/>
            <a:ext cx="2093976" cy="640080"/>
          </a:xfrm>
          <a:prstGeom prst="rect">
            <a:avLst/>
          </a:prstGeom>
          <a:noFill/>
        </p:spPr>
        <p:txBody>
          <a:bodyPr wrap="square">
            <a:spAutoFit/>
          </a:bodyPr>
          <a:lstStyle/>
          <a:p>
            <a:pPr>
              <a:defRPr sz="1050" b="1">
                <a:solidFill>
                  <a:srgbClr val="FFFFFF"/>
                </a:solidFill>
              </a:defRPr>
            </a:pPr>
            <a:r>
              <a:t>Relational DB</a:t>
            </a:r>
          </a:p>
          <a:p>
            <a:pPr>
              <a:spcBef>
                <a:spcPts val="200"/>
              </a:spcBef>
              <a:defRPr sz="900">
                <a:solidFill>
                  <a:srgbClr val="94A3B8"/>
                </a:solidFill>
              </a:defRPr>
            </a:pPr>
            <a:r>
              <a:t>SQLite / PostgreSQL catalog</a:t>
            </a:r>
          </a:p>
        </p:txBody>
      </p:sp>
      <p:sp>
        <p:nvSpPr>
          <p:cNvPr id="44" name="Rounded Rectangle 43"/>
          <p:cNvSpPr/>
          <p:nvPr/>
        </p:nvSpPr>
        <p:spPr>
          <a:xfrm>
            <a:off x="9153144" y="438911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08008" y="4443983"/>
            <a:ext cx="2093976" cy="640080"/>
          </a:xfrm>
          <a:prstGeom prst="rect">
            <a:avLst/>
          </a:prstGeom>
          <a:noFill/>
        </p:spPr>
        <p:txBody>
          <a:bodyPr wrap="square">
            <a:spAutoFit/>
          </a:bodyPr>
          <a:lstStyle/>
          <a:p>
            <a:pPr>
              <a:defRPr sz="1050" b="1">
                <a:solidFill>
                  <a:srgbClr val="FFFFFF"/>
                </a:solidFill>
              </a:defRPr>
            </a:pPr>
            <a:r>
              <a:t>React 18 + Vite</a:t>
            </a:r>
          </a:p>
          <a:p>
            <a:pPr>
              <a:spcBef>
                <a:spcPts val="200"/>
              </a:spcBef>
              <a:defRPr sz="900">
                <a:solidFill>
                  <a:srgbClr val="94A3B8"/>
                </a:solidFill>
              </a:defRPr>
            </a:pPr>
            <a:r>
              <a:t>High-density Dark Void UI</a:t>
            </a:r>
          </a:p>
        </p:txBody>
      </p:sp>
      <p:sp>
        <p:nvSpPr>
          <p:cNvPr id="46" name="Rounded Rectangle 45"/>
          <p:cNvSpPr/>
          <p:nvPr/>
        </p:nvSpPr>
        <p:spPr>
          <a:xfrm>
            <a:off x="9153144" y="5212079"/>
            <a:ext cx="2203704" cy="74980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08008" y="5266943"/>
            <a:ext cx="2093976" cy="640080"/>
          </a:xfrm>
          <a:prstGeom prst="rect">
            <a:avLst/>
          </a:prstGeom>
          <a:noFill/>
        </p:spPr>
        <p:txBody>
          <a:bodyPr wrap="square">
            <a:spAutoFit/>
          </a:bodyPr>
          <a:lstStyle/>
          <a:p>
            <a:pPr>
              <a:defRPr sz="1050" b="1">
                <a:solidFill>
                  <a:srgbClr val="FFFFFF"/>
                </a:solidFill>
              </a:defRPr>
            </a:pPr>
            <a:r>
              <a:t>What-If Studio</a:t>
            </a:r>
          </a:p>
          <a:p>
            <a:pPr>
              <a:spcBef>
                <a:spcPts val="200"/>
              </a:spcBef>
              <a:defRPr sz="900">
                <a:solidFill>
                  <a:srgbClr val="94A3B8"/>
                </a:solidFill>
              </a:defRPr>
            </a:pPr>
            <a:r>
              <a:t>Real-time parameter sensitivity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MODELING &amp; OPTIMIZATION</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Machine Learning Models &amp; Bayesian Tuning</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Comparing linear baselines against gradient boosted decision tree ensembles</a:t>
            </a:r>
          </a:p>
        </p:txBody>
      </p:sp>
      <p:sp>
        <p:nvSpPr>
          <p:cNvPr id="5" name="Rounded Rectangle 4"/>
          <p:cNvSpPr/>
          <p:nvPr/>
        </p:nvSpPr>
        <p:spPr>
          <a:xfrm>
            <a:off x="731520" y="1874519"/>
            <a:ext cx="342900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39111"/>
            <a:ext cx="2377440" cy="868680"/>
          </a:xfrm>
          <a:prstGeom prst="rect">
            <a:avLst/>
          </a:prstGeom>
          <a:noFill/>
        </p:spPr>
        <p:txBody>
          <a:bodyPr wrap="square">
            <a:spAutoFit/>
          </a:bodyPr>
          <a:lstStyle/>
          <a:p>
            <a:pPr>
              <a:defRPr sz="1000" b="1">
                <a:solidFill>
                  <a:srgbClr val="94A3B8"/>
                </a:solidFill>
              </a:defRPr>
            </a:pPr>
            <a:r>
              <a:t>BASELINE MODEL</a:t>
            </a:r>
          </a:p>
          <a:p>
            <a:pPr>
              <a:spcBef>
                <a:spcPts val="300"/>
              </a:spcBef>
              <a:defRPr sz="1600" b="1">
                <a:solidFill>
                  <a:srgbClr val="FFFFFF"/>
                </a:solidFill>
              </a:defRPr>
            </a:pPr>
            <a:r>
              <a:t>Ridge Regression</a:t>
            </a:r>
          </a:p>
          <a:p>
            <a:pPr>
              <a:spcBef>
                <a:spcPts val="200"/>
              </a:spcBef>
              <a:defRPr sz="1050">
                <a:solidFill>
                  <a:srgbClr val="94A3B8"/>
                </a:solidFill>
              </a:defRPr>
            </a:pPr>
            <a:r>
              <a:t>L2-Regularized Linear</a:t>
            </a:r>
          </a:p>
        </p:txBody>
      </p:sp>
      <p:sp>
        <p:nvSpPr>
          <p:cNvPr id="7" name="Rounded Rectangle 6"/>
          <p:cNvSpPr/>
          <p:nvPr/>
        </p:nvSpPr>
        <p:spPr>
          <a:xfrm>
            <a:off x="3291840" y="2057399"/>
            <a:ext cx="685800" cy="68580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ikitlearn.png"/>
          <p:cNvPicPr>
            <a:picLocks noChangeAspect="1"/>
          </p:cNvPicPr>
          <p:nvPr/>
        </p:nvPicPr>
        <p:blipFill>
          <a:blip r:embed="rId2"/>
          <a:stretch>
            <a:fillRect/>
          </a:stretch>
        </p:blipFill>
        <p:spPr>
          <a:xfrm>
            <a:off x="3355848" y="2121407"/>
            <a:ext cx="548640" cy="297097"/>
          </a:xfrm>
          <a:prstGeom prst="rect">
            <a:avLst/>
          </a:prstGeom>
        </p:spPr>
      </p:pic>
      <p:sp>
        <p:nvSpPr>
          <p:cNvPr id="9" name="Rectangle 8"/>
          <p:cNvSpPr/>
          <p:nvPr/>
        </p:nvSpPr>
        <p:spPr>
          <a:xfrm>
            <a:off x="914400" y="2990087"/>
            <a:ext cx="3063240" cy="18288"/>
          </a:xfrm>
          <a:prstGeom prst="rect">
            <a:avLst/>
          </a:prstGeom>
          <a:solidFill>
            <a:srgbClr val="26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3118103"/>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91255"/>
            <a:ext cx="2880360" cy="457200"/>
          </a:xfrm>
          <a:prstGeom prst="rect">
            <a:avLst/>
          </a:prstGeom>
          <a:noFill/>
        </p:spPr>
        <p:txBody>
          <a:bodyPr wrap="square">
            <a:spAutoFit/>
          </a:bodyPr>
          <a:lstStyle/>
          <a:p>
            <a:pPr>
              <a:defRPr sz="950">
                <a:solidFill>
                  <a:srgbClr val="94A3B8"/>
                </a:solidFill>
              </a:defRPr>
            </a:pPr>
            <a:r>
              <a:t>Feature Count</a:t>
            </a:r>
          </a:p>
          <a:p>
            <a:pPr>
              <a:spcBef>
                <a:spcPts val="200"/>
              </a:spcBef>
              <a:defRPr sz="1200" b="1">
                <a:solidFill>
                  <a:srgbClr val="FFFFFF"/>
                </a:solidFill>
              </a:defRPr>
            </a:pPr>
            <a:r>
              <a:t>34 Pre-Release Features</a:t>
            </a:r>
          </a:p>
        </p:txBody>
      </p:sp>
      <p:sp>
        <p:nvSpPr>
          <p:cNvPr id="12" name="Rounded Rectangle 11"/>
          <p:cNvSpPr/>
          <p:nvPr/>
        </p:nvSpPr>
        <p:spPr>
          <a:xfrm>
            <a:off x="914400" y="3776471"/>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49623"/>
            <a:ext cx="2880360" cy="457200"/>
          </a:xfrm>
          <a:prstGeom prst="rect">
            <a:avLst/>
          </a:prstGeom>
          <a:noFill/>
        </p:spPr>
        <p:txBody>
          <a:bodyPr wrap="square">
            <a:spAutoFit/>
          </a:bodyPr>
          <a:lstStyle/>
          <a:p>
            <a:pPr>
              <a:defRPr sz="950">
                <a:solidFill>
                  <a:srgbClr val="94A3B8"/>
                </a:solidFill>
              </a:defRPr>
            </a:pPr>
            <a:r>
              <a:t>Objective</a:t>
            </a:r>
          </a:p>
          <a:p>
            <a:pPr>
              <a:spcBef>
                <a:spcPts val="200"/>
              </a:spcBef>
              <a:defRPr sz="1200" b="1">
                <a:solidFill>
                  <a:srgbClr val="FFFFFF"/>
                </a:solidFill>
              </a:defRPr>
            </a:pPr>
            <a:r>
              <a:t>Log Worldwide Revenue USD</a:t>
            </a:r>
          </a:p>
        </p:txBody>
      </p:sp>
      <p:sp>
        <p:nvSpPr>
          <p:cNvPr id="14" name="Rounded Rectangle 13"/>
          <p:cNvSpPr/>
          <p:nvPr/>
        </p:nvSpPr>
        <p:spPr>
          <a:xfrm>
            <a:off x="914400" y="4434839"/>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507991"/>
            <a:ext cx="2880360" cy="457200"/>
          </a:xfrm>
          <a:prstGeom prst="rect">
            <a:avLst/>
          </a:prstGeom>
          <a:noFill/>
        </p:spPr>
        <p:txBody>
          <a:bodyPr wrap="square">
            <a:spAutoFit/>
          </a:bodyPr>
          <a:lstStyle/>
          <a:p>
            <a:pPr>
              <a:defRPr sz="950">
                <a:solidFill>
                  <a:srgbClr val="94A3B8"/>
                </a:solidFill>
              </a:defRPr>
            </a:pPr>
            <a:r>
              <a:t>Test R² (Log)</a:t>
            </a:r>
          </a:p>
          <a:p>
            <a:pPr>
              <a:spcBef>
                <a:spcPts val="200"/>
              </a:spcBef>
              <a:defRPr sz="1200" b="1">
                <a:solidFill>
                  <a:srgbClr val="FFFFFF"/>
                </a:solidFill>
              </a:defRPr>
            </a:pPr>
            <a:r>
              <a:t>0.4021</a:t>
            </a:r>
          </a:p>
        </p:txBody>
      </p:sp>
      <p:sp>
        <p:nvSpPr>
          <p:cNvPr id="16" name="Rounded Rectangle 15"/>
          <p:cNvSpPr/>
          <p:nvPr/>
        </p:nvSpPr>
        <p:spPr>
          <a:xfrm>
            <a:off x="914400" y="5093207"/>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66359"/>
            <a:ext cx="2880360" cy="457200"/>
          </a:xfrm>
          <a:prstGeom prst="rect">
            <a:avLst/>
          </a:prstGeom>
          <a:noFill/>
        </p:spPr>
        <p:txBody>
          <a:bodyPr wrap="square">
            <a:spAutoFit/>
          </a:bodyPr>
          <a:lstStyle/>
          <a:p>
            <a:pPr>
              <a:defRPr sz="950">
                <a:solidFill>
                  <a:srgbClr val="94A3B8"/>
                </a:solidFill>
              </a:defRPr>
            </a:pPr>
            <a:r>
              <a:t>Pearson r</a:t>
            </a:r>
          </a:p>
          <a:p>
            <a:pPr>
              <a:spcBef>
                <a:spcPts val="200"/>
              </a:spcBef>
              <a:defRPr sz="1200" b="1">
                <a:solidFill>
                  <a:srgbClr val="FFFFFF"/>
                </a:solidFill>
              </a:defRPr>
            </a:pPr>
            <a:r>
              <a:t>0.6536</a:t>
            </a:r>
          </a:p>
        </p:txBody>
      </p:sp>
      <p:sp>
        <p:nvSpPr>
          <p:cNvPr id="18" name="Rounded Rectangle 17"/>
          <p:cNvSpPr/>
          <p:nvPr/>
        </p:nvSpPr>
        <p:spPr>
          <a:xfrm>
            <a:off x="4389120" y="1874519"/>
            <a:ext cx="342900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039111"/>
            <a:ext cx="2377440" cy="868680"/>
          </a:xfrm>
          <a:prstGeom prst="rect">
            <a:avLst/>
          </a:prstGeom>
          <a:noFill/>
        </p:spPr>
        <p:txBody>
          <a:bodyPr wrap="square">
            <a:spAutoFit/>
          </a:bodyPr>
          <a:lstStyle/>
          <a:p>
            <a:pPr>
              <a:defRPr sz="1000" b="1">
                <a:solidFill>
                  <a:srgbClr val="FFB829"/>
                </a:solidFill>
              </a:defRPr>
            </a:pPr>
            <a:r>
              <a:t>BENCHMARK MODEL</a:t>
            </a:r>
          </a:p>
          <a:p>
            <a:pPr>
              <a:spcBef>
                <a:spcPts val="300"/>
              </a:spcBef>
              <a:defRPr sz="1600" b="1">
                <a:solidFill>
                  <a:srgbClr val="FFFFFF"/>
                </a:solidFill>
              </a:defRPr>
            </a:pPr>
            <a:r>
              <a:t>CatBoost Regressor</a:t>
            </a:r>
          </a:p>
          <a:p>
            <a:pPr>
              <a:spcBef>
                <a:spcPts val="200"/>
              </a:spcBef>
              <a:defRPr sz="1050">
                <a:solidFill>
                  <a:srgbClr val="94A3B8"/>
                </a:solidFill>
              </a:defRPr>
            </a:pPr>
            <a:r>
              <a:t>Oblivious Decision Trees</a:t>
            </a:r>
          </a:p>
        </p:txBody>
      </p:sp>
      <p:sp>
        <p:nvSpPr>
          <p:cNvPr id="20" name="Rounded Rectangle 19"/>
          <p:cNvSpPr/>
          <p:nvPr/>
        </p:nvSpPr>
        <p:spPr>
          <a:xfrm>
            <a:off x="6949440" y="2057399"/>
            <a:ext cx="685800" cy="68580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atboost.png"/>
          <p:cNvPicPr>
            <a:picLocks noChangeAspect="1"/>
          </p:cNvPicPr>
          <p:nvPr/>
        </p:nvPicPr>
        <p:blipFill>
          <a:blip r:embed="rId3"/>
          <a:stretch>
            <a:fillRect/>
          </a:stretch>
        </p:blipFill>
        <p:spPr>
          <a:xfrm>
            <a:off x="7013448" y="2121407"/>
            <a:ext cx="548640" cy="230645"/>
          </a:xfrm>
          <a:prstGeom prst="rect">
            <a:avLst/>
          </a:prstGeom>
        </p:spPr>
      </p:pic>
      <p:sp>
        <p:nvSpPr>
          <p:cNvPr id="22" name="Rectangle 21"/>
          <p:cNvSpPr/>
          <p:nvPr/>
        </p:nvSpPr>
        <p:spPr>
          <a:xfrm>
            <a:off x="4572000" y="2990087"/>
            <a:ext cx="3063240" cy="18288"/>
          </a:xfrm>
          <a:prstGeom prst="rect">
            <a:avLst/>
          </a:prstGeom>
          <a:solidFill>
            <a:srgbClr val="26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72000" y="3118103"/>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3191255"/>
            <a:ext cx="2880360" cy="457200"/>
          </a:xfrm>
          <a:prstGeom prst="rect">
            <a:avLst/>
          </a:prstGeom>
          <a:noFill/>
        </p:spPr>
        <p:txBody>
          <a:bodyPr wrap="square">
            <a:spAutoFit/>
          </a:bodyPr>
          <a:lstStyle/>
          <a:p>
            <a:pPr>
              <a:defRPr sz="950">
                <a:solidFill>
                  <a:srgbClr val="94A3B8"/>
                </a:solidFill>
              </a:defRPr>
            </a:pPr>
            <a:r>
              <a:t>Feature Count</a:t>
            </a:r>
          </a:p>
          <a:p>
            <a:pPr>
              <a:spcBef>
                <a:spcPts val="200"/>
              </a:spcBef>
              <a:defRPr sz="1200" b="1">
                <a:solidFill>
                  <a:srgbClr val="FFFFFF"/>
                </a:solidFill>
              </a:defRPr>
            </a:pPr>
            <a:r>
              <a:t>34 Pre-Release Features</a:t>
            </a:r>
          </a:p>
        </p:txBody>
      </p:sp>
      <p:sp>
        <p:nvSpPr>
          <p:cNvPr id="25" name="Rounded Rectangle 24"/>
          <p:cNvSpPr/>
          <p:nvPr/>
        </p:nvSpPr>
        <p:spPr>
          <a:xfrm>
            <a:off x="4572000" y="3776471"/>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3849623"/>
            <a:ext cx="2880360" cy="457200"/>
          </a:xfrm>
          <a:prstGeom prst="rect">
            <a:avLst/>
          </a:prstGeom>
          <a:noFill/>
        </p:spPr>
        <p:txBody>
          <a:bodyPr wrap="square">
            <a:spAutoFit/>
          </a:bodyPr>
          <a:lstStyle/>
          <a:p>
            <a:pPr>
              <a:defRPr sz="950">
                <a:solidFill>
                  <a:srgbClr val="94A3B8"/>
                </a:solidFill>
              </a:defRPr>
            </a:pPr>
            <a:r>
              <a:t>Ensemble Depth</a:t>
            </a:r>
          </a:p>
          <a:p>
            <a:pPr>
              <a:spcBef>
                <a:spcPts val="200"/>
              </a:spcBef>
              <a:defRPr sz="1200" b="1">
                <a:solidFill>
                  <a:srgbClr val="FFFFFF"/>
                </a:solidFill>
              </a:defRPr>
            </a:pPr>
            <a:r>
              <a:t>6 splits with symmetric trees</a:t>
            </a:r>
          </a:p>
        </p:txBody>
      </p:sp>
      <p:sp>
        <p:nvSpPr>
          <p:cNvPr id="27" name="Rounded Rectangle 26"/>
          <p:cNvSpPr/>
          <p:nvPr/>
        </p:nvSpPr>
        <p:spPr>
          <a:xfrm>
            <a:off x="4572000" y="4434839"/>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4507991"/>
            <a:ext cx="2880360" cy="457200"/>
          </a:xfrm>
          <a:prstGeom prst="rect">
            <a:avLst/>
          </a:prstGeom>
          <a:noFill/>
        </p:spPr>
        <p:txBody>
          <a:bodyPr wrap="square">
            <a:spAutoFit/>
          </a:bodyPr>
          <a:lstStyle/>
          <a:p>
            <a:pPr>
              <a:defRPr sz="950">
                <a:solidFill>
                  <a:srgbClr val="94A3B8"/>
                </a:solidFill>
              </a:defRPr>
            </a:pPr>
            <a:r>
              <a:t>Test R² (Log)</a:t>
            </a:r>
          </a:p>
          <a:p>
            <a:pPr>
              <a:spcBef>
                <a:spcPts val="200"/>
              </a:spcBef>
              <a:defRPr sz="1200" b="1">
                <a:solidFill>
                  <a:srgbClr val="FFFFFF"/>
                </a:solidFill>
              </a:defRPr>
            </a:pPr>
            <a:r>
              <a:t>0.3943</a:t>
            </a:r>
          </a:p>
        </p:txBody>
      </p:sp>
      <p:sp>
        <p:nvSpPr>
          <p:cNvPr id="29" name="Rounded Rectangle 28"/>
          <p:cNvSpPr/>
          <p:nvPr/>
        </p:nvSpPr>
        <p:spPr>
          <a:xfrm>
            <a:off x="4572000" y="5093207"/>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3440" y="5166359"/>
            <a:ext cx="2880360" cy="457200"/>
          </a:xfrm>
          <a:prstGeom prst="rect">
            <a:avLst/>
          </a:prstGeom>
          <a:noFill/>
        </p:spPr>
        <p:txBody>
          <a:bodyPr wrap="square">
            <a:spAutoFit/>
          </a:bodyPr>
          <a:lstStyle/>
          <a:p>
            <a:pPr>
              <a:defRPr sz="950">
                <a:solidFill>
                  <a:srgbClr val="94A3B8"/>
                </a:solidFill>
              </a:defRPr>
            </a:pPr>
            <a:r>
              <a:t>Pearson r</a:t>
            </a:r>
          </a:p>
          <a:p>
            <a:pPr>
              <a:spcBef>
                <a:spcPts val="200"/>
              </a:spcBef>
              <a:defRPr sz="1200" b="1">
                <a:solidFill>
                  <a:srgbClr val="FFFFFF"/>
                </a:solidFill>
              </a:defRPr>
            </a:pPr>
            <a:r>
              <a:t>0.6410</a:t>
            </a:r>
          </a:p>
        </p:txBody>
      </p:sp>
      <p:sp>
        <p:nvSpPr>
          <p:cNvPr id="31" name="Rounded Rectangle 30"/>
          <p:cNvSpPr/>
          <p:nvPr/>
        </p:nvSpPr>
        <p:spPr>
          <a:xfrm>
            <a:off x="8046720" y="1874519"/>
            <a:ext cx="3429000" cy="4343400"/>
          </a:xfrm>
          <a:prstGeom prst="roundRect">
            <a:avLst/>
          </a:prstGeom>
          <a:solidFill>
            <a:srgbClr val="121422"/>
          </a:solidFill>
          <a:ln w="12700">
            <a:solidFill>
              <a:srgbClr val="805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2039111"/>
            <a:ext cx="2377440" cy="868680"/>
          </a:xfrm>
          <a:prstGeom prst="rect">
            <a:avLst/>
          </a:prstGeom>
          <a:noFill/>
        </p:spPr>
        <p:txBody>
          <a:bodyPr wrap="square">
            <a:spAutoFit/>
          </a:bodyPr>
          <a:lstStyle/>
          <a:p>
            <a:pPr>
              <a:defRPr sz="1000" b="1">
                <a:solidFill>
                  <a:srgbClr val="8052FF"/>
                </a:solidFill>
              </a:defRPr>
            </a:pPr>
            <a:r>
              <a:t>CHAMPION MODEL</a:t>
            </a:r>
          </a:p>
          <a:p>
            <a:pPr>
              <a:spcBef>
                <a:spcPts val="300"/>
              </a:spcBef>
              <a:defRPr sz="1600" b="1">
                <a:solidFill>
                  <a:srgbClr val="FFFFFF"/>
                </a:solidFill>
              </a:defRPr>
            </a:pPr>
            <a:r>
              <a:t>XGBoost Regressor</a:t>
            </a:r>
          </a:p>
          <a:p>
            <a:pPr>
              <a:spcBef>
                <a:spcPts val="200"/>
              </a:spcBef>
              <a:defRPr sz="1050">
                <a:solidFill>
                  <a:srgbClr val="94A3B8"/>
                </a:solidFill>
              </a:defRPr>
            </a:pPr>
            <a:r>
              <a:t>Optuna Tuned Gradient Boosting</a:t>
            </a:r>
          </a:p>
        </p:txBody>
      </p:sp>
      <p:sp>
        <p:nvSpPr>
          <p:cNvPr id="33" name="Rounded Rectangle 32"/>
          <p:cNvSpPr/>
          <p:nvPr/>
        </p:nvSpPr>
        <p:spPr>
          <a:xfrm>
            <a:off x="10607040" y="2057399"/>
            <a:ext cx="685800" cy="68580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xgboost.png"/>
          <p:cNvPicPr>
            <a:picLocks noChangeAspect="1"/>
          </p:cNvPicPr>
          <p:nvPr/>
        </p:nvPicPr>
        <p:blipFill>
          <a:blip r:embed="rId4"/>
          <a:stretch>
            <a:fillRect/>
          </a:stretch>
        </p:blipFill>
        <p:spPr>
          <a:xfrm>
            <a:off x="10671048" y="2121407"/>
            <a:ext cx="548640" cy="189604"/>
          </a:xfrm>
          <a:prstGeom prst="rect">
            <a:avLst/>
          </a:prstGeom>
        </p:spPr>
      </p:pic>
      <p:sp>
        <p:nvSpPr>
          <p:cNvPr id="35" name="Rectangle 34"/>
          <p:cNvSpPr/>
          <p:nvPr/>
        </p:nvSpPr>
        <p:spPr>
          <a:xfrm>
            <a:off x="8229600" y="2990087"/>
            <a:ext cx="3063240" cy="18288"/>
          </a:xfrm>
          <a:prstGeom prst="rect">
            <a:avLst/>
          </a:prstGeom>
          <a:solidFill>
            <a:srgbClr val="26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29600" y="3118103"/>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3191255"/>
            <a:ext cx="2880360" cy="457200"/>
          </a:xfrm>
          <a:prstGeom prst="rect">
            <a:avLst/>
          </a:prstGeom>
          <a:noFill/>
        </p:spPr>
        <p:txBody>
          <a:bodyPr wrap="square">
            <a:spAutoFit/>
          </a:bodyPr>
          <a:lstStyle/>
          <a:p>
            <a:pPr>
              <a:defRPr sz="950">
                <a:solidFill>
                  <a:srgbClr val="94A3B8"/>
                </a:solidFill>
              </a:defRPr>
            </a:pPr>
            <a:r>
              <a:t>Feature Count</a:t>
            </a:r>
          </a:p>
          <a:p>
            <a:pPr>
              <a:spcBef>
                <a:spcPts val="200"/>
              </a:spcBef>
              <a:defRPr sz="1200" b="1">
                <a:solidFill>
                  <a:srgbClr val="FFFFFF"/>
                </a:solidFill>
              </a:defRPr>
            </a:pPr>
            <a:r>
              <a:t>34 Pre-Release Features</a:t>
            </a:r>
          </a:p>
        </p:txBody>
      </p:sp>
      <p:sp>
        <p:nvSpPr>
          <p:cNvPr id="38" name="Rounded Rectangle 37"/>
          <p:cNvSpPr/>
          <p:nvPr/>
        </p:nvSpPr>
        <p:spPr>
          <a:xfrm>
            <a:off x="8229600" y="3776471"/>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1040" y="3849623"/>
            <a:ext cx="2880360" cy="457200"/>
          </a:xfrm>
          <a:prstGeom prst="rect">
            <a:avLst/>
          </a:prstGeom>
          <a:noFill/>
        </p:spPr>
        <p:txBody>
          <a:bodyPr wrap="square">
            <a:spAutoFit/>
          </a:bodyPr>
          <a:lstStyle/>
          <a:p>
            <a:pPr>
              <a:defRPr sz="950">
                <a:solidFill>
                  <a:srgbClr val="94A3B8"/>
                </a:solidFill>
              </a:defRPr>
            </a:pPr>
            <a:r>
              <a:t>Cross-Validation</a:t>
            </a:r>
          </a:p>
          <a:p>
            <a:pPr>
              <a:spcBef>
                <a:spcPts val="200"/>
              </a:spcBef>
              <a:defRPr sz="1200" b="1">
                <a:solidFill>
                  <a:srgbClr val="FFFFFF"/>
                </a:solidFill>
              </a:defRPr>
            </a:pPr>
            <a:r>
              <a:t>5-Fold TimeSeriesSplit CV</a:t>
            </a:r>
          </a:p>
        </p:txBody>
      </p:sp>
      <p:sp>
        <p:nvSpPr>
          <p:cNvPr id="40" name="Rounded Rectangle 39"/>
          <p:cNvSpPr/>
          <p:nvPr/>
        </p:nvSpPr>
        <p:spPr>
          <a:xfrm>
            <a:off x="8229600" y="4434839"/>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4507991"/>
            <a:ext cx="2880360" cy="457200"/>
          </a:xfrm>
          <a:prstGeom prst="rect">
            <a:avLst/>
          </a:prstGeom>
          <a:noFill/>
        </p:spPr>
        <p:txBody>
          <a:bodyPr wrap="square">
            <a:spAutoFit/>
          </a:bodyPr>
          <a:lstStyle/>
          <a:p>
            <a:pPr>
              <a:defRPr sz="950">
                <a:solidFill>
                  <a:srgbClr val="94A3B8"/>
                </a:solidFill>
              </a:defRPr>
            </a:pPr>
            <a:r>
              <a:t>Test R² (Log)</a:t>
            </a:r>
          </a:p>
          <a:p>
            <a:pPr>
              <a:spcBef>
                <a:spcPts val="200"/>
              </a:spcBef>
              <a:defRPr sz="1200" b="1">
                <a:solidFill>
                  <a:srgbClr val="FFFFFF"/>
                </a:solidFill>
              </a:defRPr>
            </a:pPr>
            <a:r>
              <a:t>0.3747 (MdAPE: 68.4%)</a:t>
            </a:r>
          </a:p>
        </p:txBody>
      </p:sp>
      <p:sp>
        <p:nvSpPr>
          <p:cNvPr id="42" name="Rounded Rectangle 41"/>
          <p:cNvSpPr/>
          <p:nvPr/>
        </p:nvSpPr>
        <p:spPr>
          <a:xfrm>
            <a:off x="8229600" y="5093207"/>
            <a:ext cx="3063240" cy="59436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0" y="5166359"/>
            <a:ext cx="2880360" cy="457200"/>
          </a:xfrm>
          <a:prstGeom prst="rect">
            <a:avLst/>
          </a:prstGeom>
          <a:noFill/>
        </p:spPr>
        <p:txBody>
          <a:bodyPr wrap="square">
            <a:spAutoFit/>
          </a:bodyPr>
          <a:lstStyle/>
          <a:p>
            <a:pPr>
              <a:defRPr sz="950">
                <a:solidFill>
                  <a:srgbClr val="94A3B8"/>
                </a:solidFill>
              </a:defRPr>
            </a:pPr>
            <a:r>
              <a:t>Pearson r</a:t>
            </a:r>
          </a:p>
          <a:p>
            <a:pPr>
              <a:spcBef>
                <a:spcPts val="200"/>
              </a:spcBef>
              <a:defRPr sz="1200" b="1">
                <a:solidFill>
                  <a:srgbClr val="FFFFFF"/>
                </a:solidFill>
              </a:defRPr>
            </a:pPr>
            <a:r>
              <a:t>0.6267 (Zero Leakage)</a:t>
            </a:r>
          </a:p>
        </p:txBody>
      </p:sp>
      <p:sp>
        <p:nvSpPr>
          <p:cNvPr id="44" name="Rounded Rectangle 43"/>
          <p:cNvSpPr/>
          <p:nvPr/>
        </p:nvSpPr>
        <p:spPr>
          <a:xfrm>
            <a:off x="8229600" y="5806439"/>
            <a:ext cx="3063240" cy="804672"/>
          </a:xfrm>
          <a:prstGeom prst="roundRect">
            <a:avLst/>
          </a:prstGeom>
          <a:solidFill>
            <a:srgbClr val="0B0D17"/>
          </a:solidFill>
          <a:ln w="12700">
            <a:solidFill>
              <a:srgbClr val="805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320" y="5833871"/>
            <a:ext cx="2971800" cy="731520"/>
          </a:xfrm>
          <a:prstGeom prst="rect">
            <a:avLst/>
          </a:prstGeom>
          <a:noFill/>
        </p:spPr>
        <p:txBody>
          <a:bodyPr wrap="square">
            <a:spAutoFit/>
          </a:bodyPr>
          <a:lstStyle/>
          <a:p>
            <a:pPr>
              <a:defRPr sz="850" b="1">
                <a:solidFill>
                  <a:srgbClr val="8052FF"/>
                </a:solidFill>
              </a:defRPr>
            </a:pPr>
            <a:r>
              <a:t>CHAMPION HYPERPARAMETERS (OPTUNA)</a:t>
            </a:r>
          </a:p>
          <a:p>
            <a:pPr>
              <a:spcBef>
                <a:spcPts val="200"/>
              </a:spcBef>
              <a:defRPr sz="850">
                <a:solidFill>
                  <a:srgbClr val="FFFFFF"/>
                </a:solidFill>
              </a:defRPr>
            </a:pPr>
            <a:r>
              <a:t>n_est: 400 • depth: 5 • lr: 0.0134 • sub: 0.77 • col: 0.87 • alpha: 0.49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INFRASTRUCTURE &amp; CODEBASE</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Training Pipeline &amp; Official Technology Stack</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Modular architecture built strictly with enterprise open-source libraries</a:t>
            </a:r>
          </a:p>
        </p:txBody>
      </p:sp>
      <p:sp>
        <p:nvSpPr>
          <p:cNvPr id="5" name="Rounded Rectangle 4"/>
          <p:cNvSpPr/>
          <p:nvPr/>
        </p:nvSpPr>
        <p:spPr>
          <a:xfrm>
            <a:off x="731520" y="1874519"/>
            <a:ext cx="548640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5120640" cy="365760"/>
          </a:xfrm>
          <a:prstGeom prst="rect">
            <a:avLst/>
          </a:prstGeom>
          <a:noFill/>
        </p:spPr>
        <p:txBody>
          <a:bodyPr wrap="none">
            <a:spAutoFit/>
          </a:bodyPr>
          <a:lstStyle/>
          <a:p>
            <a:pPr>
              <a:defRPr sz="1200" b="1">
                <a:solidFill>
                  <a:srgbClr val="8052FF"/>
                </a:solidFill>
              </a:defRPr>
            </a:pPr>
            <a:r>
              <a:t>ENTERPRISE ML &amp; SERVING STACK</a:t>
            </a:r>
          </a:p>
        </p:txBody>
      </p:sp>
      <p:sp>
        <p:nvSpPr>
          <p:cNvPr id="7" name="Rounded Rectangle 6"/>
          <p:cNvSpPr/>
          <p:nvPr/>
        </p:nvSpPr>
        <p:spPr>
          <a:xfrm>
            <a:off x="914400" y="2468880"/>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ython.png"/>
          <p:cNvPicPr>
            <a:picLocks noChangeAspect="1"/>
          </p:cNvPicPr>
          <p:nvPr/>
        </p:nvPicPr>
        <p:blipFill>
          <a:blip r:embed="rId2"/>
          <a:stretch>
            <a:fillRect/>
          </a:stretch>
        </p:blipFill>
        <p:spPr>
          <a:xfrm>
            <a:off x="1024128" y="2670048"/>
            <a:ext cx="420624" cy="420624"/>
          </a:xfrm>
          <a:prstGeom prst="rect">
            <a:avLst/>
          </a:prstGeom>
        </p:spPr>
      </p:pic>
      <p:sp>
        <p:nvSpPr>
          <p:cNvPr id="9" name="TextBox 8"/>
          <p:cNvSpPr txBox="1"/>
          <p:nvPr/>
        </p:nvSpPr>
        <p:spPr>
          <a:xfrm>
            <a:off x="1499616" y="2606040"/>
            <a:ext cx="1024128" cy="621792"/>
          </a:xfrm>
          <a:prstGeom prst="rect">
            <a:avLst/>
          </a:prstGeom>
          <a:noFill/>
        </p:spPr>
        <p:txBody>
          <a:bodyPr wrap="square">
            <a:spAutoFit/>
          </a:bodyPr>
          <a:lstStyle/>
          <a:p>
            <a:pPr>
              <a:defRPr sz="1000" b="1">
                <a:solidFill>
                  <a:srgbClr val="FFFFFF"/>
                </a:solidFill>
              </a:defRPr>
            </a:pPr>
            <a:r>
              <a:t>Python 3.11</a:t>
            </a:r>
          </a:p>
          <a:p>
            <a:pPr>
              <a:defRPr sz="850">
                <a:solidFill>
                  <a:srgbClr val="94A3B8"/>
                </a:solidFill>
              </a:defRPr>
            </a:pPr>
            <a:r>
              <a:t>Runtime &amp; ML</a:t>
            </a:r>
          </a:p>
        </p:txBody>
      </p:sp>
      <p:sp>
        <p:nvSpPr>
          <p:cNvPr id="10" name="Rounded Rectangle 9"/>
          <p:cNvSpPr/>
          <p:nvPr/>
        </p:nvSpPr>
        <p:spPr>
          <a:xfrm>
            <a:off x="2697480" y="2468880"/>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xgboost.png"/>
          <p:cNvPicPr>
            <a:picLocks noChangeAspect="1"/>
          </p:cNvPicPr>
          <p:nvPr/>
        </p:nvPicPr>
        <p:blipFill>
          <a:blip r:embed="rId3"/>
          <a:stretch>
            <a:fillRect/>
          </a:stretch>
        </p:blipFill>
        <p:spPr>
          <a:xfrm>
            <a:off x="2807208" y="2670048"/>
            <a:ext cx="420624" cy="145363"/>
          </a:xfrm>
          <a:prstGeom prst="rect">
            <a:avLst/>
          </a:prstGeom>
        </p:spPr>
      </p:pic>
      <p:sp>
        <p:nvSpPr>
          <p:cNvPr id="12" name="TextBox 11"/>
          <p:cNvSpPr txBox="1"/>
          <p:nvPr/>
        </p:nvSpPr>
        <p:spPr>
          <a:xfrm>
            <a:off x="3282696" y="2606040"/>
            <a:ext cx="1024128" cy="621792"/>
          </a:xfrm>
          <a:prstGeom prst="rect">
            <a:avLst/>
          </a:prstGeom>
          <a:noFill/>
        </p:spPr>
        <p:txBody>
          <a:bodyPr wrap="square">
            <a:spAutoFit/>
          </a:bodyPr>
          <a:lstStyle/>
          <a:p>
            <a:pPr>
              <a:defRPr sz="1000" b="1">
                <a:solidFill>
                  <a:srgbClr val="FFFFFF"/>
                </a:solidFill>
              </a:defRPr>
            </a:pPr>
            <a:r>
              <a:t>XGBoost 2.0+</a:t>
            </a:r>
          </a:p>
          <a:p>
            <a:pPr>
              <a:defRPr sz="850">
                <a:solidFill>
                  <a:srgbClr val="94A3B8"/>
                </a:solidFill>
              </a:defRPr>
            </a:pPr>
            <a:r>
              <a:t>Champion Regressor</a:t>
            </a:r>
          </a:p>
        </p:txBody>
      </p:sp>
      <p:sp>
        <p:nvSpPr>
          <p:cNvPr id="13" name="Rounded Rectangle 12"/>
          <p:cNvSpPr/>
          <p:nvPr/>
        </p:nvSpPr>
        <p:spPr>
          <a:xfrm>
            <a:off x="4480560" y="2468880"/>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atboost.png"/>
          <p:cNvPicPr>
            <a:picLocks noChangeAspect="1"/>
          </p:cNvPicPr>
          <p:nvPr/>
        </p:nvPicPr>
        <p:blipFill>
          <a:blip r:embed="rId4"/>
          <a:stretch>
            <a:fillRect/>
          </a:stretch>
        </p:blipFill>
        <p:spPr>
          <a:xfrm>
            <a:off x="4590288" y="2670048"/>
            <a:ext cx="420624" cy="176828"/>
          </a:xfrm>
          <a:prstGeom prst="rect">
            <a:avLst/>
          </a:prstGeom>
        </p:spPr>
      </p:pic>
      <p:sp>
        <p:nvSpPr>
          <p:cNvPr id="15" name="TextBox 14"/>
          <p:cNvSpPr txBox="1"/>
          <p:nvPr/>
        </p:nvSpPr>
        <p:spPr>
          <a:xfrm>
            <a:off x="5065776" y="2606040"/>
            <a:ext cx="1024128" cy="621792"/>
          </a:xfrm>
          <a:prstGeom prst="rect">
            <a:avLst/>
          </a:prstGeom>
          <a:noFill/>
        </p:spPr>
        <p:txBody>
          <a:bodyPr wrap="square">
            <a:spAutoFit/>
          </a:bodyPr>
          <a:lstStyle/>
          <a:p>
            <a:pPr>
              <a:defRPr sz="1000" b="1">
                <a:solidFill>
                  <a:srgbClr val="FFFFFF"/>
                </a:solidFill>
              </a:defRPr>
            </a:pPr>
            <a:r>
              <a:t>CatBoost</a:t>
            </a:r>
          </a:p>
          <a:p>
            <a:pPr>
              <a:defRPr sz="850">
                <a:solidFill>
                  <a:srgbClr val="94A3B8"/>
                </a:solidFill>
              </a:defRPr>
            </a:pPr>
            <a:r>
              <a:t>Benchmark Ensemble</a:t>
            </a:r>
          </a:p>
        </p:txBody>
      </p:sp>
      <p:sp>
        <p:nvSpPr>
          <p:cNvPr id="16" name="Rounded Rectangle 15"/>
          <p:cNvSpPr/>
          <p:nvPr/>
        </p:nvSpPr>
        <p:spPr>
          <a:xfrm>
            <a:off x="914400" y="3438144"/>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ikitlearn.png"/>
          <p:cNvPicPr>
            <a:picLocks noChangeAspect="1"/>
          </p:cNvPicPr>
          <p:nvPr/>
        </p:nvPicPr>
        <p:blipFill>
          <a:blip r:embed="rId5"/>
          <a:stretch>
            <a:fillRect/>
          </a:stretch>
        </p:blipFill>
        <p:spPr>
          <a:xfrm>
            <a:off x="1024128" y="3639312"/>
            <a:ext cx="420624" cy="227775"/>
          </a:xfrm>
          <a:prstGeom prst="rect">
            <a:avLst/>
          </a:prstGeom>
        </p:spPr>
      </p:pic>
      <p:sp>
        <p:nvSpPr>
          <p:cNvPr id="18" name="TextBox 17"/>
          <p:cNvSpPr txBox="1"/>
          <p:nvPr/>
        </p:nvSpPr>
        <p:spPr>
          <a:xfrm>
            <a:off x="1499616" y="3575304"/>
            <a:ext cx="1024128" cy="621792"/>
          </a:xfrm>
          <a:prstGeom prst="rect">
            <a:avLst/>
          </a:prstGeom>
          <a:noFill/>
        </p:spPr>
        <p:txBody>
          <a:bodyPr wrap="square">
            <a:spAutoFit/>
          </a:bodyPr>
          <a:lstStyle/>
          <a:p>
            <a:pPr>
              <a:defRPr sz="1000" b="1">
                <a:solidFill>
                  <a:srgbClr val="FFFFFF"/>
                </a:solidFill>
              </a:defRPr>
            </a:pPr>
            <a:r>
              <a:t>Scikit-Learn</a:t>
            </a:r>
          </a:p>
          <a:p>
            <a:pPr>
              <a:defRPr sz="850">
                <a:solidFill>
                  <a:srgbClr val="94A3B8"/>
                </a:solidFill>
              </a:defRPr>
            </a:pPr>
            <a:r>
              <a:t>Preprocessing &amp; Metrics</a:t>
            </a:r>
          </a:p>
        </p:txBody>
      </p:sp>
      <p:sp>
        <p:nvSpPr>
          <p:cNvPr id="19" name="Rounded Rectangle 18"/>
          <p:cNvSpPr/>
          <p:nvPr/>
        </p:nvSpPr>
        <p:spPr>
          <a:xfrm>
            <a:off x="2697480" y="3438144"/>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optuna.png"/>
          <p:cNvPicPr>
            <a:picLocks noChangeAspect="1"/>
          </p:cNvPicPr>
          <p:nvPr/>
        </p:nvPicPr>
        <p:blipFill>
          <a:blip r:embed="rId6"/>
          <a:stretch>
            <a:fillRect/>
          </a:stretch>
        </p:blipFill>
        <p:spPr>
          <a:xfrm>
            <a:off x="2807208" y="3639312"/>
            <a:ext cx="420624" cy="88331"/>
          </a:xfrm>
          <a:prstGeom prst="rect">
            <a:avLst/>
          </a:prstGeom>
        </p:spPr>
      </p:pic>
      <p:sp>
        <p:nvSpPr>
          <p:cNvPr id="21" name="TextBox 20"/>
          <p:cNvSpPr txBox="1"/>
          <p:nvPr/>
        </p:nvSpPr>
        <p:spPr>
          <a:xfrm>
            <a:off x="3282696" y="3575304"/>
            <a:ext cx="1024128" cy="621792"/>
          </a:xfrm>
          <a:prstGeom prst="rect">
            <a:avLst/>
          </a:prstGeom>
          <a:noFill/>
        </p:spPr>
        <p:txBody>
          <a:bodyPr wrap="square">
            <a:spAutoFit/>
          </a:bodyPr>
          <a:lstStyle/>
          <a:p>
            <a:pPr>
              <a:defRPr sz="1000" b="1">
                <a:solidFill>
                  <a:srgbClr val="FFFFFF"/>
                </a:solidFill>
              </a:defRPr>
            </a:pPr>
            <a:r>
              <a:t>Optuna 3.5+</a:t>
            </a:r>
          </a:p>
          <a:p>
            <a:pPr>
              <a:defRPr sz="850">
                <a:solidFill>
                  <a:srgbClr val="94A3B8"/>
                </a:solidFill>
              </a:defRPr>
            </a:pPr>
            <a:r>
              <a:t>Bayesian HPO Search</a:t>
            </a:r>
          </a:p>
        </p:txBody>
      </p:sp>
      <p:sp>
        <p:nvSpPr>
          <p:cNvPr id="22" name="Rounded Rectangle 21"/>
          <p:cNvSpPr/>
          <p:nvPr/>
        </p:nvSpPr>
        <p:spPr>
          <a:xfrm>
            <a:off x="4480560" y="3438144"/>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hap.png"/>
          <p:cNvPicPr>
            <a:picLocks noChangeAspect="1"/>
          </p:cNvPicPr>
          <p:nvPr/>
        </p:nvPicPr>
        <p:blipFill>
          <a:blip r:embed="rId7"/>
          <a:stretch>
            <a:fillRect/>
          </a:stretch>
        </p:blipFill>
        <p:spPr>
          <a:xfrm>
            <a:off x="4590288" y="3639312"/>
            <a:ext cx="420624" cy="424830"/>
          </a:xfrm>
          <a:prstGeom prst="rect">
            <a:avLst/>
          </a:prstGeom>
        </p:spPr>
      </p:pic>
      <p:sp>
        <p:nvSpPr>
          <p:cNvPr id="24" name="TextBox 23"/>
          <p:cNvSpPr txBox="1"/>
          <p:nvPr/>
        </p:nvSpPr>
        <p:spPr>
          <a:xfrm>
            <a:off x="5065776" y="3575304"/>
            <a:ext cx="1024128" cy="621792"/>
          </a:xfrm>
          <a:prstGeom prst="rect">
            <a:avLst/>
          </a:prstGeom>
          <a:noFill/>
        </p:spPr>
        <p:txBody>
          <a:bodyPr wrap="square">
            <a:spAutoFit/>
          </a:bodyPr>
          <a:lstStyle/>
          <a:p>
            <a:pPr>
              <a:defRPr sz="1000" b="1">
                <a:solidFill>
                  <a:srgbClr val="FFFFFF"/>
                </a:solidFill>
              </a:defRPr>
            </a:pPr>
            <a:r>
              <a:t>SHAP</a:t>
            </a:r>
          </a:p>
          <a:p>
            <a:pPr>
              <a:defRPr sz="850">
                <a:solidFill>
                  <a:srgbClr val="94A3B8"/>
                </a:solidFill>
              </a:defRPr>
            </a:pPr>
            <a:r>
              <a:t>TreeExplainer Attribution</a:t>
            </a:r>
          </a:p>
        </p:txBody>
      </p:sp>
      <p:sp>
        <p:nvSpPr>
          <p:cNvPr id="25" name="Rounded Rectangle 24"/>
          <p:cNvSpPr/>
          <p:nvPr/>
        </p:nvSpPr>
        <p:spPr>
          <a:xfrm>
            <a:off x="914400" y="4407408"/>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astapi.png"/>
          <p:cNvPicPr>
            <a:picLocks noChangeAspect="1"/>
          </p:cNvPicPr>
          <p:nvPr/>
        </p:nvPicPr>
        <p:blipFill>
          <a:blip r:embed="rId8"/>
          <a:stretch>
            <a:fillRect/>
          </a:stretch>
        </p:blipFill>
        <p:spPr>
          <a:xfrm>
            <a:off x="1024128" y="4608576"/>
            <a:ext cx="420624" cy="420624"/>
          </a:xfrm>
          <a:prstGeom prst="rect">
            <a:avLst/>
          </a:prstGeom>
        </p:spPr>
      </p:pic>
      <p:sp>
        <p:nvSpPr>
          <p:cNvPr id="27" name="TextBox 26"/>
          <p:cNvSpPr txBox="1"/>
          <p:nvPr/>
        </p:nvSpPr>
        <p:spPr>
          <a:xfrm>
            <a:off x="1499616" y="4544568"/>
            <a:ext cx="1024128" cy="621792"/>
          </a:xfrm>
          <a:prstGeom prst="rect">
            <a:avLst/>
          </a:prstGeom>
          <a:noFill/>
        </p:spPr>
        <p:txBody>
          <a:bodyPr wrap="square">
            <a:spAutoFit/>
          </a:bodyPr>
          <a:lstStyle/>
          <a:p>
            <a:pPr>
              <a:defRPr sz="1000" b="1">
                <a:solidFill>
                  <a:srgbClr val="FFFFFF"/>
                </a:solidFill>
              </a:defRPr>
            </a:pPr>
            <a:r>
              <a:t>FastAPI</a:t>
            </a:r>
          </a:p>
          <a:p>
            <a:pPr>
              <a:defRPr sz="850">
                <a:solidFill>
                  <a:srgbClr val="94A3B8"/>
                </a:solidFill>
              </a:defRPr>
            </a:pPr>
            <a:r>
              <a:t>High-Performance REST</a:t>
            </a:r>
          </a:p>
        </p:txBody>
      </p:sp>
      <p:sp>
        <p:nvSpPr>
          <p:cNvPr id="28" name="Rounded Rectangle 27"/>
          <p:cNvSpPr/>
          <p:nvPr/>
        </p:nvSpPr>
        <p:spPr>
          <a:xfrm>
            <a:off x="2697480" y="4407408"/>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qlite.png"/>
          <p:cNvPicPr>
            <a:picLocks noChangeAspect="1"/>
          </p:cNvPicPr>
          <p:nvPr/>
        </p:nvPicPr>
        <p:blipFill>
          <a:blip r:embed="rId9"/>
          <a:stretch>
            <a:fillRect/>
          </a:stretch>
        </p:blipFill>
        <p:spPr>
          <a:xfrm>
            <a:off x="2807208" y="4608576"/>
            <a:ext cx="420624" cy="420624"/>
          </a:xfrm>
          <a:prstGeom prst="rect">
            <a:avLst/>
          </a:prstGeom>
        </p:spPr>
      </p:pic>
      <p:sp>
        <p:nvSpPr>
          <p:cNvPr id="30" name="TextBox 29"/>
          <p:cNvSpPr txBox="1"/>
          <p:nvPr/>
        </p:nvSpPr>
        <p:spPr>
          <a:xfrm>
            <a:off x="3282696" y="4544568"/>
            <a:ext cx="1024128" cy="621792"/>
          </a:xfrm>
          <a:prstGeom prst="rect">
            <a:avLst/>
          </a:prstGeom>
          <a:noFill/>
        </p:spPr>
        <p:txBody>
          <a:bodyPr wrap="square">
            <a:spAutoFit/>
          </a:bodyPr>
          <a:lstStyle/>
          <a:p>
            <a:pPr>
              <a:defRPr sz="1000" b="1">
                <a:solidFill>
                  <a:srgbClr val="FFFFFF"/>
                </a:solidFill>
              </a:defRPr>
            </a:pPr>
            <a:r>
              <a:t>SQLite / PG</a:t>
            </a:r>
          </a:p>
          <a:p>
            <a:pPr>
              <a:defRPr sz="850">
                <a:solidFill>
                  <a:srgbClr val="94A3B8"/>
                </a:solidFill>
              </a:defRPr>
            </a:pPr>
            <a:r>
              <a:t>Relational Catalog DB</a:t>
            </a:r>
          </a:p>
        </p:txBody>
      </p:sp>
      <p:sp>
        <p:nvSpPr>
          <p:cNvPr id="31" name="Rounded Rectangle 30"/>
          <p:cNvSpPr/>
          <p:nvPr/>
        </p:nvSpPr>
        <p:spPr>
          <a:xfrm>
            <a:off x="4480560" y="4407408"/>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eact.png"/>
          <p:cNvPicPr>
            <a:picLocks noChangeAspect="1"/>
          </p:cNvPicPr>
          <p:nvPr/>
        </p:nvPicPr>
        <p:blipFill>
          <a:blip r:embed="rId10"/>
          <a:stretch>
            <a:fillRect/>
          </a:stretch>
        </p:blipFill>
        <p:spPr>
          <a:xfrm>
            <a:off x="4590288" y="4608576"/>
            <a:ext cx="420624" cy="420624"/>
          </a:xfrm>
          <a:prstGeom prst="rect">
            <a:avLst/>
          </a:prstGeom>
        </p:spPr>
      </p:pic>
      <p:sp>
        <p:nvSpPr>
          <p:cNvPr id="33" name="TextBox 32"/>
          <p:cNvSpPr txBox="1"/>
          <p:nvPr/>
        </p:nvSpPr>
        <p:spPr>
          <a:xfrm>
            <a:off x="5065776" y="4544568"/>
            <a:ext cx="1024128" cy="621792"/>
          </a:xfrm>
          <a:prstGeom prst="rect">
            <a:avLst/>
          </a:prstGeom>
          <a:noFill/>
        </p:spPr>
        <p:txBody>
          <a:bodyPr wrap="square">
            <a:spAutoFit/>
          </a:bodyPr>
          <a:lstStyle/>
          <a:p>
            <a:pPr>
              <a:defRPr sz="1000" b="1">
                <a:solidFill>
                  <a:srgbClr val="FFFFFF"/>
                </a:solidFill>
              </a:defRPr>
            </a:pPr>
            <a:r>
              <a:t>React 18</a:t>
            </a:r>
          </a:p>
          <a:p>
            <a:pPr>
              <a:defRPr sz="850">
                <a:solidFill>
                  <a:srgbClr val="94A3B8"/>
                </a:solidFill>
              </a:defRPr>
            </a:pPr>
            <a:r>
              <a:t>Component UI Engine</a:t>
            </a:r>
          </a:p>
        </p:txBody>
      </p:sp>
      <p:sp>
        <p:nvSpPr>
          <p:cNvPr id="34" name="Rounded Rectangle 33"/>
          <p:cNvSpPr/>
          <p:nvPr/>
        </p:nvSpPr>
        <p:spPr>
          <a:xfrm>
            <a:off x="914400" y="5376672"/>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vite.png"/>
          <p:cNvPicPr>
            <a:picLocks noChangeAspect="1"/>
          </p:cNvPicPr>
          <p:nvPr/>
        </p:nvPicPr>
        <p:blipFill>
          <a:blip r:embed="rId11"/>
          <a:stretch>
            <a:fillRect/>
          </a:stretch>
        </p:blipFill>
        <p:spPr>
          <a:xfrm>
            <a:off x="1024128" y="5577840"/>
            <a:ext cx="420624" cy="420624"/>
          </a:xfrm>
          <a:prstGeom prst="rect">
            <a:avLst/>
          </a:prstGeom>
        </p:spPr>
      </p:pic>
      <p:sp>
        <p:nvSpPr>
          <p:cNvPr id="36" name="TextBox 35"/>
          <p:cNvSpPr txBox="1"/>
          <p:nvPr/>
        </p:nvSpPr>
        <p:spPr>
          <a:xfrm>
            <a:off x="1499616" y="5513832"/>
            <a:ext cx="1024128" cy="621792"/>
          </a:xfrm>
          <a:prstGeom prst="rect">
            <a:avLst/>
          </a:prstGeom>
          <a:noFill/>
        </p:spPr>
        <p:txBody>
          <a:bodyPr wrap="square">
            <a:spAutoFit/>
          </a:bodyPr>
          <a:lstStyle/>
          <a:p>
            <a:pPr>
              <a:defRPr sz="1000" b="1">
                <a:solidFill>
                  <a:srgbClr val="FFFFFF"/>
                </a:solidFill>
              </a:defRPr>
            </a:pPr>
            <a:r>
              <a:t>Vite 5</a:t>
            </a:r>
          </a:p>
          <a:p>
            <a:pPr>
              <a:defRPr sz="850">
                <a:solidFill>
                  <a:srgbClr val="94A3B8"/>
                </a:solidFill>
              </a:defRPr>
            </a:pPr>
            <a:r>
              <a:t>Lightning Build System</a:t>
            </a:r>
          </a:p>
        </p:txBody>
      </p:sp>
      <p:sp>
        <p:nvSpPr>
          <p:cNvPr id="37" name="Rounded Rectangle 36"/>
          <p:cNvSpPr/>
          <p:nvPr/>
        </p:nvSpPr>
        <p:spPr>
          <a:xfrm>
            <a:off x="2697480" y="5376672"/>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tailwindcss.png"/>
          <p:cNvPicPr>
            <a:picLocks noChangeAspect="1"/>
          </p:cNvPicPr>
          <p:nvPr/>
        </p:nvPicPr>
        <p:blipFill>
          <a:blip r:embed="rId12"/>
          <a:stretch>
            <a:fillRect/>
          </a:stretch>
        </p:blipFill>
        <p:spPr>
          <a:xfrm>
            <a:off x="2807208" y="5577840"/>
            <a:ext cx="420624" cy="420624"/>
          </a:xfrm>
          <a:prstGeom prst="rect">
            <a:avLst/>
          </a:prstGeom>
        </p:spPr>
      </p:pic>
      <p:sp>
        <p:nvSpPr>
          <p:cNvPr id="39" name="TextBox 38"/>
          <p:cNvSpPr txBox="1"/>
          <p:nvPr/>
        </p:nvSpPr>
        <p:spPr>
          <a:xfrm>
            <a:off x="3282696" y="5513832"/>
            <a:ext cx="1024128" cy="621792"/>
          </a:xfrm>
          <a:prstGeom prst="rect">
            <a:avLst/>
          </a:prstGeom>
          <a:noFill/>
        </p:spPr>
        <p:txBody>
          <a:bodyPr wrap="square">
            <a:spAutoFit/>
          </a:bodyPr>
          <a:lstStyle/>
          <a:p>
            <a:pPr>
              <a:defRPr sz="1000" b="1">
                <a:solidFill>
                  <a:srgbClr val="FFFFFF"/>
                </a:solidFill>
              </a:defRPr>
            </a:pPr>
            <a:r>
              <a:t>Tailwind CSS</a:t>
            </a:r>
          </a:p>
          <a:p>
            <a:pPr>
              <a:defRPr sz="850">
                <a:solidFill>
                  <a:srgbClr val="94A3B8"/>
                </a:solidFill>
              </a:defRPr>
            </a:pPr>
            <a:r>
              <a:t>Dark Void Design</a:t>
            </a:r>
          </a:p>
        </p:txBody>
      </p:sp>
      <p:sp>
        <p:nvSpPr>
          <p:cNvPr id="40" name="Rounded Rectangle 39"/>
          <p:cNvSpPr/>
          <p:nvPr/>
        </p:nvSpPr>
        <p:spPr>
          <a:xfrm>
            <a:off x="4480560" y="5376672"/>
            <a:ext cx="164592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github.png"/>
          <p:cNvPicPr>
            <a:picLocks noChangeAspect="1"/>
          </p:cNvPicPr>
          <p:nvPr/>
        </p:nvPicPr>
        <p:blipFill>
          <a:blip r:embed="rId13"/>
          <a:stretch>
            <a:fillRect/>
          </a:stretch>
        </p:blipFill>
        <p:spPr>
          <a:xfrm>
            <a:off x="4590288" y="5577840"/>
            <a:ext cx="420624" cy="420624"/>
          </a:xfrm>
          <a:prstGeom prst="rect">
            <a:avLst/>
          </a:prstGeom>
        </p:spPr>
      </p:pic>
      <p:sp>
        <p:nvSpPr>
          <p:cNvPr id="42" name="TextBox 41"/>
          <p:cNvSpPr txBox="1"/>
          <p:nvPr/>
        </p:nvSpPr>
        <p:spPr>
          <a:xfrm>
            <a:off x="5065776" y="5513832"/>
            <a:ext cx="1024128" cy="621792"/>
          </a:xfrm>
          <a:prstGeom prst="rect">
            <a:avLst/>
          </a:prstGeom>
          <a:noFill/>
        </p:spPr>
        <p:txBody>
          <a:bodyPr wrap="square">
            <a:spAutoFit/>
          </a:bodyPr>
          <a:lstStyle/>
          <a:p>
            <a:pPr>
              <a:defRPr sz="1000" b="1">
                <a:solidFill>
                  <a:srgbClr val="FFFFFF"/>
                </a:solidFill>
              </a:defRPr>
            </a:pPr>
            <a:r>
              <a:t>GitHub Actions</a:t>
            </a:r>
          </a:p>
          <a:p>
            <a:pPr>
              <a:defRPr sz="850">
                <a:solidFill>
                  <a:srgbClr val="94A3B8"/>
                </a:solidFill>
              </a:defRPr>
            </a:pPr>
            <a:r>
              <a:t>Automated CI / Pytest</a:t>
            </a:r>
          </a:p>
        </p:txBody>
      </p:sp>
      <p:sp>
        <p:nvSpPr>
          <p:cNvPr id="43" name="Rounded Rectangle 42"/>
          <p:cNvSpPr/>
          <p:nvPr/>
        </p:nvSpPr>
        <p:spPr>
          <a:xfrm>
            <a:off x="6446520" y="1874519"/>
            <a:ext cx="5029200" cy="43434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9400" y="2011680"/>
            <a:ext cx="4663440" cy="365760"/>
          </a:xfrm>
          <a:prstGeom prst="rect">
            <a:avLst/>
          </a:prstGeom>
          <a:noFill/>
        </p:spPr>
        <p:txBody>
          <a:bodyPr wrap="none">
            <a:spAutoFit/>
          </a:bodyPr>
          <a:lstStyle/>
          <a:p>
            <a:pPr>
              <a:defRPr sz="1200" b="1">
                <a:solidFill>
                  <a:srgbClr val="FFB829"/>
                </a:solidFill>
              </a:defRPr>
            </a:pPr>
            <a:r>
              <a:t>ENGINEERING DISCIPLINE &amp; PIPELINE PILLARS</a:t>
            </a:r>
          </a:p>
        </p:txBody>
      </p:sp>
      <p:sp>
        <p:nvSpPr>
          <p:cNvPr id="45" name="Rounded Rectangle 44"/>
          <p:cNvSpPr/>
          <p:nvPr/>
        </p:nvSpPr>
        <p:spPr>
          <a:xfrm>
            <a:off x="6629400" y="2468880"/>
            <a:ext cx="466344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6560" y="2542032"/>
            <a:ext cx="4389120" cy="694944"/>
          </a:xfrm>
          <a:prstGeom prst="rect">
            <a:avLst/>
          </a:prstGeom>
          <a:noFill/>
        </p:spPr>
        <p:txBody>
          <a:bodyPr wrap="square">
            <a:spAutoFit/>
          </a:bodyPr>
          <a:lstStyle/>
          <a:p>
            <a:pPr>
              <a:defRPr sz="1100" b="1">
                <a:solidFill>
                  <a:srgbClr val="8052FF"/>
                </a:solidFill>
              </a:defRPr>
            </a:pPr>
            <a:r>
              <a:t>Strict Temporal Split</a:t>
            </a:r>
          </a:p>
          <a:p>
            <a:pPr>
              <a:spcBef>
                <a:spcPts val="200"/>
              </a:spcBef>
              <a:defRPr sz="950">
                <a:solidFill>
                  <a:srgbClr val="CBD5E1"/>
                </a:solidFill>
              </a:defRPr>
            </a:pPr>
            <a:r>
              <a:t>Train: 1990–2022 ($N=3,548$) held out against test: 2023–2025 ($N=383$) to mirror true chronological deployment conditions.</a:t>
            </a:r>
          </a:p>
        </p:txBody>
      </p:sp>
      <p:sp>
        <p:nvSpPr>
          <p:cNvPr id="47" name="Rounded Rectangle 46"/>
          <p:cNvSpPr/>
          <p:nvPr/>
        </p:nvSpPr>
        <p:spPr>
          <a:xfrm>
            <a:off x="6629400" y="3419856"/>
            <a:ext cx="466344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66560" y="3493008"/>
            <a:ext cx="4389120" cy="694944"/>
          </a:xfrm>
          <a:prstGeom prst="rect">
            <a:avLst/>
          </a:prstGeom>
          <a:noFill/>
        </p:spPr>
        <p:txBody>
          <a:bodyPr wrap="square">
            <a:spAutoFit/>
          </a:bodyPr>
          <a:lstStyle/>
          <a:p>
            <a:pPr>
              <a:defRPr sz="1100" b="1">
                <a:solidFill>
                  <a:srgbClr val="FFB829"/>
                </a:solidFill>
              </a:defRPr>
            </a:pPr>
            <a:r>
              <a:t>Defensive Preprocessing</a:t>
            </a:r>
          </a:p>
          <a:p>
            <a:pPr>
              <a:spcBef>
                <a:spcPts val="200"/>
              </a:spcBef>
              <a:defRPr sz="950">
                <a:solidFill>
                  <a:srgbClr val="CBD5E1"/>
                </a:solidFill>
              </a:defRPr>
            </a:pPr>
            <a:r>
              <a:t>Stringified Python list parsing via ast.literal_eval, eliminating malformed genres and null runtime anomalies.</a:t>
            </a:r>
          </a:p>
        </p:txBody>
      </p:sp>
      <p:sp>
        <p:nvSpPr>
          <p:cNvPr id="49" name="Rounded Rectangle 48"/>
          <p:cNvSpPr/>
          <p:nvPr/>
        </p:nvSpPr>
        <p:spPr>
          <a:xfrm>
            <a:off x="6629400" y="4370832"/>
            <a:ext cx="466344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66560" y="4443984"/>
            <a:ext cx="4389120" cy="694944"/>
          </a:xfrm>
          <a:prstGeom prst="rect">
            <a:avLst/>
          </a:prstGeom>
          <a:noFill/>
        </p:spPr>
        <p:txBody>
          <a:bodyPr wrap="square">
            <a:spAutoFit/>
          </a:bodyPr>
          <a:lstStyle/>
          <a:p>
            <a:pPr>
              <a:defRPr sz="1100" b="1">
                <a:solidFill>
                  <a:srgbClr val="10B981"/>
                </a:solidFill>
              </a:defRPr>
            </a:pPr>
            <a:r>
              <a:t>Sub-2-Minute Training</a:t>
            </a:r>
          </a:p>
          <a:p>
            <a:pPr>
              <a:spcBef>
                <a:spcPts val="200"/>
              </a:spcBef>
              <a:defRPr sz="950">
                <a:solidFill>
                  <a:srgbClr val="CBD5E1"/>
                </a:solidFill>
              </a:defRPr>
            </a:pPr>
            <a:r>
              <a:t>Bayesian hyperparameter optimization and XGBoost training finish in under 120 seconds on standard CPU hardware.</a:t>
            </a:r>
          </a:p>
        </p:txBody>
      </p:sp>
      <p:sp>
        <p:nvSpPr>
          <p:cNvPr id="51" name="Rounded Rectangle 50"/>
          <p:cNvSpPr/>
          <p:nvPr/>
        </p:nvSpPr>
        <p:spPr>
          <a:xfrm>
            <a:off x="6629400" y="5321808"/>
            <a:ext cx="4663440" cy="8412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6560" y="5394960"/>
            <a:ext cx="4389120" cy="694944"/>
          </a:xfrm>
          <a:prstGeom prst="rect">
            <a:avLst/>
          </a:prstGeom>
          <a:noFill/>
        </p:spPr>
        <p:txBody>
          <a:bodyPr wrap="square">
            <a:spAutoFit/>
          </a:bodyPr>
          <a:lstStyle/>
          <a:p>
            <a:pPr>
              <a:defRPr sz="1100" b="1">
                <a:solidFill>
                  <a:srgbClr val="8052FF"/>
                </a:solidFill>
              </a:defRPr>
            </a:pPr>
            <a:r>
              <a:t>Comprehensive Testing Suite</a:t>
            </a:r>
          </a:p>
          <a:p>
            <a:pPr>
              <a:spcBef>
                <a:spcPts val="200"/>
              </a:spcBef>
              <a:defRPr sz="950">
                <a:solidFill>
                  <a:srgbClr val="CBD5E1"/>
                </a:solidFill>
              </a:defRPr>
            </a:pPr>
            <a:r>
              <a:t>Automated Pytest coverage verifying leakage prevention, schema integrity, and REST endpoint response schemas.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BENCHMARK &amp; EMPIRICAL FINDINGS</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Results, Leakage Ablation &amp; Explainability</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Quantitative proof of post-release target leakage and global SHAP value drivers</a:t>
            </a:r>
          </a:p>
        </p:txBody>
      </p:sp>
      <p:sp>
        <p:nvSpPr>
          <p:cNvPr id="5" name="Rounded Rectangle 4"/>
          <p:cNvSpPr/>
          <p:nvPr/>
        </p:nvSpPr>
        <p:spPr>
          <a:xfrm>
            <a:off x="731520" y="1783080"/>
            <a:ext cx="5303520" cy="3337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del_benchmark.png"/>
          <p:cNvPicPr>
            <a:picLocks noChangeAspect="1"/>
          </p:cNvPicPr>
          <p:nvPr/>
        </p:nvPicPr>
        <p:blipFill>
          <a:blip r:embed="rId2"/>
          <a:stretch>
            <a:fillRect/>
          </a:stretch>
        </p:blipFill>
        <p:spPr>
          <a:xfrm>
            <a:off x="777240" y="1828800"/>
            <a:ext cx="5212080" cy="2638213"/>
          </a:xfrm>
          <a:prstGeom prst="rect">
            <a:avLst/>
          </a:prstGeom>
        </p:spPr>
      </p:pic>
      <p:sp>
        <p:nvSpPr>
          <p:cNvPr id="7" name="Rounded Rectangle 6"/>
          <p:cNvSpPr/>
          <p:nvPr/>
        </p:nvSpPr>
        <p:spPr>
          <a:xfrm>
            <a:off x="6217920" y="1783080"/>
            <a:ext cx="5257800" cy="3337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blation_comparison.png"/>
          <p:cNvPicPr>
            <a:picLocks noChangeAspect="1"/>
          </p:cNvPicPr>
          <p:nvPr/>
        </p:nvPicPr>
        <p:blipFill>
          <a:blip r:embed="rId3"/>
          <a:stretch>
            <a:fillRect/>
          </a:stretch>
        </p:blipFill>
        <p:spPr>
          <a:xfrm>
            <a:off x="6263640" y="1828800"/>
            <a:ext cx="5166360" cy="2750919"/>
          </a:xfrm>
          <a:prstGeom prst="rect">
            <a:avLst/>
          </a:prstGeom>
        </p:spPr>
      </p:pic>
      <p:sp>
        <p:nvSpPr>
          <p:cNvPr id="9" name="Rounded Rectangle 8"/>
          <p:cNvSpPr/>
          <p:nvPr/>
        </p:nvSpPr>
        <p:spPr>
          <a:xfrm>
            <a:off x="731520" y="5303520"/>
            <a:ext cx="2514600" cy="1051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394960"/>
            <a:ext cx="2331720" cy="868680"/>
          </a:xfrm>
          <a:prstGeom prst="rect">
            <a:avLst/>
          </a:prstGeom>
          <a:noFill/>
        </p:spPr>
        <p:txBody>
          <a:bodyPr wrap="square">
            <a:spAutoFit/>
          </a:bodyPr>
          <a:lstStyle/>
          <a:p>
            <a:pPr algn="ctr">
              <a:defRPr sz="2000" b="1">
                <a:solidFill>
                  <a:srgbClr val="8052FF"/>
                </a:solidFill>
              </a:defRPr>
            </a:pPr>
            <a:r>
              <a:t>0.375</a:t>
            </a:r>
          </a:p>
          <a:p>
            <a:pPr algn="ctr">
              <a:spcBef>
                <a:spcPts val="200"/>
              </a:spcBef>
              <a:defRPr sz="1100" b="1">
                <a:solidFill>
                  <a:srgbClr val="FFFFFF"/>
                </a:solidFill>
              </a:defRPr>
            </a:pPr>
            <a:r>
              <a:t>Champion Test R²</a:t>
            </a:r>
          </a:p>
          <a:p>
            <a:pPr algn="ctr">
              <a:defRPr sz="900">
                <a:solidFill>
                  <a:srgbClr val="94A3B8"/>
                </a:solidFill>
              </a:defRPr>
            </a:pPr>
            <a:r>
              <a:t>Log USD worldwide box office</a:t>
            </a:r>
          </a:p>
        </p:txBody>
      </p:sp>
      <p:sp>
        <p:nvSpPr>
          <p:cNvPr id="11" name="Rounded Rectangle 10"/>
          <p:cNvSpPr/>
          <p:nvPr/>
        </p:nvSpPr>
        <p:spPr>
          <a:xfrm>
            <a:off x="3474720" y="5303520"/>
            <a:ext cx="2514600" cy="1051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5394960"/>
            <a:ext cx="2331720" cy="868680"/>
          </a:xfrm>
          <a:prstGeom prst="rect">
            <a:avLst/>
          </a:prstGeom>
          <a:noFill/>
        </p:spPr>
        <p:txBody>
          <a:bodyPr wrap="square">
            <a:spAutoFit/>
          </a:bodyPr>
          <a:lstStyle/>
          <a:p>
            <a:pPr algn="ctr">
              <a:defRPr sz="2000" b="1">
                <a:solidFill>
                  <a:srgbClr val="FFB829"/>
                </a:solidFill>
              </a:defRPr>
            </a:pPr>
            <a:r>
              <a:t>0.627</a:t>
            </a:r>
          </a:p>
          <a:p>
            <a:pPr algn="ctr">
              <a:spcBef>
                <a:spcPts val="200"/>
              </a:spcBef>
              <a:defRPr sz="1100" b="1">
                <a:solidFill>
                  <a:srgbClr val="FFFFFF"/>
                </a:solidFill>
              </a:defRPr>
            </a:pPr>
            <a:r>
              <a:t>Pearson Correlation (r)</a:t>
            </a:r>
          </a:p>
          <a:p>
            <a:pPr algn="ctr">
              <a:defRPr sz="900">
                <a:solidFill>
                  <a:srgbClr val="94A3B8"/>
                </a:solidFill>
              </a:defRPr>
            </a:pPr>
            <a:r>
              <a:t>Clean pre-release features</a:t>
            </a:r>
          </a:p>
        </p:txBody>
      </p:sp>
      <p:sp>
        <p:nvSpPr>
          <p:cNvPr id="13" name="Rounded Rectangle 12"/>
          <p:cNvSpPr/>
          <p:nvPr/>
        </p:nvSpPr>
        <p:spPr>
          <a:xfrm>
            <a:off x="6217920" y="5303520"/>
            <a:ext cx="2514600" cy="1051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5394960"/>
            <a:ext cx="2331720" cy="868680"/>
          </a:xfrm>
          <a:prstGeom prst="rect">
            <a:avLst/>
          </a:prstGeom>
          <a:noFill/>
        </p:spPr>
        <p:txBody>
          <a:bodyPr wrap="square">
            <a:spAutoFit/>
          </a:bodyPr>
          <a:lstStyle/>
          <a:p>
            <a:pPr algn="ctr">
              <a:defRPr sz="2000" b="1">
                <a:solidFill>
                  <a:srgbClr val="FF5C7A"/>
                </a:solidFill>
              </a:defRPr>
            </a:pPr>
            <a:r>
              <a:t>+0.07</a:t>
            </a:r>
          </a:p>
          <a:p>
            <a:pPr algn="ctr">
              <a:spcBef>
                <a:spcPts val="200"/>
              </a:spcBef>
              <a:defRPr sz="1100" b="1">
                <a:solidFill>
                  <a:srgbClr val="FFFFFF"/>
                </a:solidFill>
              </a:defRPr>
            </a:pPr>
            <a:r>
              <a:t>Leakage Inflation Lift</a:t>
            </a:r>
          </a:p>
          <a:p>
            <a:pPr algn="ctr">
              <a:defRPr sz="900">
                <a:solidFill>
                  <a:srgbClr val="94A3B8"/>
                </a:solidFill>
              </a:defRPr>
            </a:pPr>
            <a:r>
              <a:t>Post-release vote distortion</a:t>
            </a:r>
          </a:p>
        </p:txBody>
      </p:sp>
      <p:sp>
        <p:nvSpPr>
          <p:cNvPr id="15" name="Rounded Rectangle 14"/>
          <p:cNvSpPr/>
          <p:nvPr/>
        </p:nvSpPr>
        <p:spPr>
          <a:xfrm>
            <a:off x="8961120" y="5303520"/>
            <a:ext cx="2514600" cy="105156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5394960"/>
            <a:ext cx="2331720" cy="868680"/>
          </a:xfrm>
          <a:prstGeom prst="rect">
            <a:avLst/>
          </a:prstGeom>
          <a:noFill/>
        </p:spPr>
        <p:txBody>
          <a:bodyPr wrap="square">
            <a:spAutoFit/>
          </a:bodyPr>
          <a:lstStyle/>
          <a:p>
            <a:pPr algn="ctr">
              <a:defRPr sz="2000" b="1">
                <a:solidFill>
                  <a:srgbClr val="10B981"/>
                </a:solidFill>
              </a:defRPr>
            </a:pPr>
            <a:r>
              <a:t>#1 DRIVER</a:t>
            </a:r>
          </a:p>
          <a:p>
            <a:pPr algn="ctr">
              <a:spcBef>
                <a:spcPts val="200"/>
              </a:spcBef>
              <a:defRPr sz="1100" b="1">
                <a:solidFill>
                  <a:srgbClr val="FFFFFF"/>
                </a:solidFill>
              </a:defRPr>
            </a:pPr>
            <a:r>
              <a:t>Budget ($0.84 SHAP)</a:t>
            </a:r>
          </a:p>
          <a:p>
            <a:pPr algn="ctr">
              <a:defRPr sz="900">
                <a:solidFill>
                  <a:srgbClr val="94A3B8"/>
                </a:solidFill>
              </a:defRPr>
            </a:pPr>
            <a:r>
              <a:t>Dominant pre-release signal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TextBox 1"/>
          <p:cNvSpPr txBox="1"/>
          <p:nvPr/>
        </p:nvSpPr>
        <p:spPr>
          <a:xfrm>
            <a:off x="731520" y="384048"/>
            <a:ext cx="9144000" cy="320040"/>
          </a:xfrm>
          <a:prstGeom prst="rect">
            <a:avLst/>
          </a:prstGeom>
          <a:noFill/>
        </p:spPr>
        <p:txBody>
          <a:bodyPr wrap="square" lIns="0" rIns="0" tIns="0" bIns="0">
            <a:spAutoFit/>
          </a:bodyPr>
          <a:lstStyle/>
          <a:p>
            <a:pPr>
              <a:defRPr sz="1100" b="1">
                <a:solidFill>
                  <a:srgbClr val="8052FF"/>
                </a:solidFill>
                <a:latin typeface="Arial"/>
              </a:defRPr>
            </a:pPr>
            <a:r>
              <a:t>DEPLOYMENT &amp; ROADMAP</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800" b="1">
                <a:solidFill>
                  <a:srgbClr val="FFFFFF"/>
                </a:solidFill>
                <a:latin typeface="Arial"/>
              </a:defRPr>
            </a:pPr>
            <a:r>
              <a:t>Production Application &amp; Future Scope</a:t>
            </a:r>
          </a:p>
        </p:txBody>
      </p:sp>
      <p:sp>
        <p:nvSpPr>
          <p:cNvPr id="4" name="TextBox 3"/>
          <p:cNvSpPr txBox="1"/>
          <p:nvPr/>
        </p:nvSpPr>
        <p:spPr>
          <a:xfrm>
            <a:off x="731520" y="1261872"/>
            <a:ext cx="10698480" cy="347472"/>
          </a:xfrm>
          <a:prstGeom prst="rect">
            <a:avLst/>
          </a:prstGeom>
          <a:noFill/>
        </p:spPr>
        <p:txBody>
          <a:bodyPr wrap="square" lIns="0" rIns="0" tIns="0" bIns="0">
            <a:spAutoFit/>
          </a:bodyPr>
          <a:lstStyle/>
          <a:p>
            <a:pPr>
              <a:defRPr sz="1300">
                <a:solidFill>
                  <a:srgbClr val="94A3B8"/>
                </a:solidFill>
                <a:latin typeface="Arial"/>
              </a:defRPr>
            </a:pPr>
            <a:r>
              <a:t>Live interactive analytics dashboard paired with forward-looking multi-modal capabilities</a:t>
            </a:r>
          </a:p>
        </p:txBody>
      </p:sp>
      <p:sp>
        <p:nvSpPr>
          <p:cNvPr id="5" name="Rounded Rectangle 4"/>
          <p:cNvSpPr/>
          <p:nvPr/>
        </p:nvSpPr>
        <p:spPr>
          <a:xfrm>
            <a:off x="731520" y="1783080"/>
            <a:ext cx="6217920" cy="443484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_overview.png"/>
          <p:cNvPicPr>
            <a:picLocks noChangeAspect="1"/>
          </p:cNvPicPr>
          <p:nvPr/>
        </p:nvPicPr>
        <p:blipFill>
          <a:blip r:embed="rId2"/>
          <a:stretch>
            <a:fillRect/>
          </a:stretch>
        </p:blipFill>
        <p:spPr>
          <a:xfrm>
            <a:off x="822960" y="1874519"/>
            <a:ext cx="6035040" cy="3771900"/>
          </a:xfrm>
          <a:prstGeom prst="rect">
            <a:avLst/>
          </a:prstGeom>
        </p:spPr>
      </p:pic>
      <p:sp>
        <p:nvSpPr>
          <p:cNvPr id="7" name="Rounded Rectangle 6"/>
          <p:cNvSpPr/>
          <p:nvPr/>
        </p:nvSpPr>
        <p:spPr>
          <a:xfrm>
            <a:off x="1005840" y="5715000"/>
            <a:ext cx="5669280" cy="384048"/>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CineForecast Live Executive Overview • 3,931 Catalog Films • Real-Time Predictions</a:t>
            </a:r>
          </a:p>
        </p:txBody>
      </p:sp>
      <p:sp>
        <p:nvSpPr>
          <p:cNvPr id="8" name="Rounded Rectangle 7"/>
          <p:cNvSpPr/>
          <p:nvPr/>
        </p:nvSpPr>
        <p:spPr>
          <a:xfrm>
            <a:off x="7132320" y="1783080"/>
            <a:ext cx="4343400" cy="443484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920240"/>
            <a:ext cx="3977639" cy="320040"/>
          </a:xfrm>
          <a:prstGeom prst="rect">
            <a:avLst/>
          </a:prstGeom>
          <a:noFill/>
        </p:spPr>
        <p:txBody>
          <a:bodyPr wrap="none">
            <a:spAutoFit/>
          </a:bodyPr>
          <a:lstStyle/>
          <a:p>
            <a:pPr>
              <a:defRPr sz="1200" b="1">
                <a:solidFill>
                  <a:srgbClr val="FFB829"/>
                </a:solidFill>
              </a:defRPr>
            </a:pPr>
            <a:r>
              <a:t>CORE CAPABILITIES &amp; ROADMAP</a:t>
            </a:r>
          </a:p>
        </p:txBody>
      </p:sp>
      <p:sp>
        <p:nvSpPr>
          <p:cNvPr id="10" name="Rounded Rectangle 9"/>
          <p:cNvSpPr/>
          <p:nvPr/>
        </p:nvSpPr>
        <p:spPr>
          <a:xfrm>
            <a:off x="7315200" y="2331720"/>
            <a:ext cx="3977639" cy="713232"/>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2386584"/>
            <a:ext cx="3703320" cy="603504"/>
          </a:xfrm>
          <a:prstGeom prst="rect">
            <a:avLst/>
          </a:prstGeom>
          <a:noFill/>
        </p:spPr>
        <p:txBody>
          <a:bodyPr wrap="square">
            <a:spAutoFit/>
          </a:bodyPr>
          <a:lstStyle/>
          <a:p>
            <a:pPr>
              <a:defRPr sz="1050" b="1">
                <a:solidFill>
                  <a:srgbClr val="8052FF"/>
                </a:solidFill>
              </a:defRPr>
            </a:pPr>
            <a:r>
              <a:t>What-If Scenario Simulator</a:t>
            </a:r>
          </a:p>
          <a:p>
            <a:pPr>
              <a:spcBef>
                <a:spcPts val="200"/>
              </a:spcBef>
              <a:defRPr sz="900">
                <a:solidFill>
                  <a:srgbClr val="94A3B8"/>
                </a:solidFill>
              </a:defRPr>
            </a:pPr>
            <a:r>
              <a:t>Producers dynamically slide budget, adjust release calendar, and view live ROI &amp; tier deltas.</a:t>
            </a:r>
          </a:p>
        </p:txBody>
      </p:sp>
      <p:sp>
        <p:nvSpPr>
          <p:cNvPr id="12" name="Rounded Rectangle 11"/>
          <p:cNvSpPr/>
          <p:nvPr/>
        </p:nvSpPr>
        <p:spPr>
          <a:xfrm>
            <a:off x="7315200" y="3099816"/>
            <a:ext cx="3977639" cy="713232"/>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3154680"/>
            <a:ext cx="3703320" cy="603504"/>
          </a:xfrm>
          <a:prstGeom prst="rect">
            <a:avLst/>
          </a:prstGeom>
          <a:noFill/>
        </p:spPr>
        <p:txBody>
          <a:bodyPr wrap="square">
            <a:spAutoFit/>
          </a:bodyPr>
          <a:lstStyle/>
          <a:p>
            <a:pPr>
              <a:defRPr sz="1050" b="1">
                <a:solidFill>
                  <a:srgbClr val="10B981"/>
                </a:solidFill>
              </a:defRPr>
            </a:pPr>
            <a:r>
              <a:t>SHAP Waterfall Inspection</a:t>
            </a:r>
          </a:p>
          <a:p>
            <a:pPr>
              <a:spcBef>
                <a:spcPts val="200"/>
              </a:spcBef>
              <a:defRPr sz="900">
                <a:solidFill>
                  <a:srgbClr val="94A3B8"/>
                </a:solidFill>
              </a:defRPr>
            </a:pPr>
            <a:r>
              <a:t>Expandable per-movie breakdown detailing positive revenue drivers vs negative drags.</a:t>
            </a:r>
          </a:p>
        </p:txBody>
      </p:sp>
      <p:sp>
        <p:nvSpPr>
          <p:cNvPr id="14" name="Rounded Rectangle 13"/>
          <p:cNvSpPr/>
          <p:nvPr/>
        </p:nvSpPr>
        <p:spPr>
          <a:xfrm>
            <a:off x="7315200" y="3867912"/>
            <a:ext cx="3977639" cy="713232"/>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3922776"/>
            <a:ext cx="3703320" cy="603504"/>
          </a:xfrm>
          <a:prstGeom prst="rect">
            <a:avLst/>
          </a:prstGeom>
          <a:noFill/>
        </p:spPr>
        <p:txBody>
          <a:bodyPr wrap="square">
            <a:spAutoFit/>
          </a:bodyPr>
          <a:lstStyle/>
          <a:p>
            <a:pPr>
              <a:defRPr sz="1050" b="1">
                <a:solidFill>
                  <a:srgbClr val="FFB829"/>
                </a:solidFill>
              </a:defRPr>
            </a:pPr>
            <a:r>
              <a:t>Macro Industry Analytics</a:t>
            </a:r>
          </a:p>
          <a:p>
            <a:pPr>
              <a:spcBef>
                <a:spcPts val="200"/>
              </a:spcBef>
              <a:defRPr sz="900">
                <a:solidFill>
                  <a:srgbClr val="94A3B8"/>
                </a:solidFill>
              </a:defRPr>
            </a:pPr>
            <a:r>
              <a:t>Historical breakdown across genres, decadal inflation, and holiday seasonality.</a:t>
            </a:r>
          </a:p>
        </p:txBody>
      </p:sp>
      <p:sp>
        <p:nvSpPr>
          <p:cNvPr id="16" name="Rounded Rectangle 15"/>
          <p:cNvSpPr/>
          <p:nvPr/>
        </p:nvSpPr>
        <p:spPr>
          <a:xfrm>
            <a:off x="7315200" y="4636008"/>
            <a:ext cx="3977639" cy="713232"/>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4690872"/>
            <a:ext cx="3703320" cy="603504"/>
          </a:xfrm>
          <a:prstGeom prst="rect">
            <a:avLst/>
          </a:prstGeom>
          <a:noFill/>
        </p:spPr>
        <p:txBody>
          <a:bodyPr wrap="square">
            <a:spAutoFit/>
          </a:bodyPr>
          <a:lstStyle/>
          <a:p>
            <a:pPr>
              <a:defRPr sz="1050" b="1">
                <a:solidFill>
                  <a:srgbClr val="FFFFFF"/>
                </a:solidFill>
              </a:defRPr>
            </a:pPr>
            <a:r>
              <a:t>Future: Multi-Modal Trailer AI</a:t>
            </a:r>
          </a:p>
          <a:p>
            <a:pPr>
              <a:spcBef>
                <a:spcPts val="200"/>
              </a:spcBef>
              <a:defRPr sz="900">
                <a:solidFill>
                  <a:srgbClr val="94A3B8"/>
                </a:solidFill>
              </a:defRPr>
            </a:pPr>
            <a:r>
              <a:t>Extract video pacing, audio score mood, and trailer YouTube engagement signals.</a:t>
            </a:r>
          </a:p>
        </p:txBody>
      </p:sp>
      <p:sp>
        <p:nvSpPr>
          <p:cNvPr id="18" name="Rounded Rectangle 17"/>
          <p:cNvSpPr/>
          <p:nvPr/>
        </p:nvSpPr>
        <p:spPr>
          <a:xfrm>
            <a:off x="7315200" y="5404104"/>
            <a:ext cx="3977639" cy="713232"/>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5458968"/>
            <a:ext cx="3703320" cy="603504"/>
          </a:xfrm>
          <a:prstGeom prst="rect">
            <a:avLst/>
          </a:prstGeom>
          <a:noFill/>
        </p:spPr>
        <p:txBody>
          <a:bodyPr wrap="square">
            <a:spAutoFit/>
          </a:bodyPr>
          <a:lstStyle/>
          <a:p>
            <a:pPr>
              <a:defRPr sz="1050" b="1">
                <a:solidFill>
                  <a:srgbClr val="FFFFFF"/>
                </a:solidFill>
              </a:defRPr>
            </a:pPr>
            <a:r>
              <a:t>Future: Global Territory Splits</a:t>
            </a:r>
          </a:p>
          <a:p>
            <a:pPr>
              <a:spcBef>
                <a:spcPts val="200"/>
              </a:spcBef>
              <a:defRPr sz="900">
                <a:solidFill>
                  <a:srgbClr val="94A3B8"/>
                </a:solidFill>
              </a:defRPr>
            </a:pPr>
            <a:r>
              <a:t>Decompose box office projections across North America, EMEA, and APAC markets.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7"/>
        </a:solidFill>
        <a:effectLst/>
      </p:bgPr>
    </p:bg>
    <p:spTree>
      <p:nvGrpSpPr>
        <p:cNvPr id="1" name=""/>
        <p:cNvGrpSpPr/>
        <p:nvPr/>
      </p:nvGrpSpPr>
      <p:grpSpPr/>
      <p:sp>
        <p:nvSpPr>
          <p:cNvPr id="2" name="Rounded Rectangle 1"/>
          <p:cNvSpPr/>
          <p:nvPr/>
        </p:nvSpPr>
        <p:spPr>
          <a:xfrm>
            <a:off x="731520" y="914400"/>
            <a:ext cx="6217920" cy="5029200"/>
          </a:xfrm>
          <a:prstGeom prst="roundRect">
            <a:avLst/>
          </a:prstGeom>
          <a:solidFill>
            <a:srgbClr val="121422"/>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88720"/>
            <a:ext cx="5486400" cy="1097280"/>
          </a:xfrm>
          <a:prstGeom prst="rect">
            <a:avLst/>
          </a:prstGeom>
          <a:noFill/>
        </p:spPr>
        <p:txBody>
          <a:bodyPr wrap="square">
            <a:spAutoFit/>
          </a:bodyPr>
          <a:lstStyle/>
          <a:p>
            <a:pPr>
              <a:defRPr sz="4400" b="1">
                <a:solidFill>
                  <a:srgbClr val="FFFFFF"/>
                </a:solidFill>
                <a:latin typeface="Arial"/>
              </a:defRPr>
            </a:pPr>
            <a:r>
              <a:t>CineForecast</a:t>
            </a:r>
          </a:p>
          <a:p>
            <a:pPr>
              <a:spcBef>
                <a:spcPts val="400"/>
              </a:spcBef>
              <a:defRPr sz="1400">
                <a:solidFill>
                  <a:srgbClr val="8052FF"/>
                </a:solidFill>
              </a:defRPr>
            </a:pPr>
            <a:r>
              <a:t>Predictive Intelligence for Film Box Office &amp; ROI Forecasting</a:t>
            </a:r>
          </a:p>
        </p:txBody>
      </p:sp>
      <p:sp>
        <p:nvSpPr>
          <p:cNvPr id="4" name="TextBox 3"/>
          <p:cNvSpPr txBox="1"/>
          <p:nvPr/>
        </p:nvSpPr>
        <p:spPr>
          <a:xfrm>
            <a:off x="1097280" y="2468880"/>
            <a:ext cx="5486400" cy="502920"/>
          </a:xfrm>
          <a:prstGeom prst="rect">
            <a:avLst/>
          </a:prstGeom>
          <a:noFill/>
        </p:spPr>
        <p:txBody>
          <a:bodyPr wrap="square">
            <a:spAutoFit/>
          </a:bodyPr>
          <a:lstStyle/>
          <a:p>
            <a:pPr>
              <a:defRPr sz="950" b="1">
                <a:solidFill>
                  <a:srgbClr val="FFB829"/>
                </a:solidFill>
              </a:defRPr>
            </a:pPr>
            <a:r>
              <a:t>AUTHOR &amp; LEAD</a:t>
            </a:r>
          </a:p>
          <a:p>
            <a:pPr>
              <a:spcBef>
                <a:spcPts val="200"/>
              </a:spcBef>
              <a:defRPr sz="1100">
                <a:solidFill>
                  <a:srgbClr val="CBD5E1"/>
                </a:solidFill>
              </a:defRPr>
            </a:pPr>
            <a:r>
              <a:t>Pratham Raval (ML Engineer &amp; Full-Stack Developer)</a:t>
            </a:r>
          </a:p>
        </p:txBody>
      </p:sp>
      <p:sp>
        <p:nvSpPr>
          <p:cNvPr id="5" name="TextBox 4"/>
          <p:cNvSpPr txBox="1"/>
          <p:nvPr/>
        </p:nvSpPr>
        <p:spPr>
          <a:xfrm>
            <a:off x="1097280" y="3063240"/>
            <a:ext cx="5486400" cy="502920"/>
          </a:xfrm>
          <a:prstGeom prst="rect">
            <a:avLst/>
          </a:prstGeom>
          <a:noFill/>
        </p:spPr>
        <p:txBody>
          <a:bodyPr wrap="square">
            <a:spAutoFit/>
          </a:bodyPr>
          <a:lstStyle/>
          <a:p>
            <a:pPr>
              <a:defRPr sz="950" b="1">
                <a:solidFill>
                  <a:srgbClr val="FFB829"/>
                </a:solidFill>
              </a:defRPr>
            </a:pPr>
            <a:r>
              <a:t>REPOSITORY</a:t>
            </a:r>
          </a:p>
          <a:p>
            <a:pPr>
              <a:spcBef>
                <a:spcPts val="200"/>
              </a:spcBef>
              <a:defRPr sz="1100">
                <a:solidFill>
                  <a:srgbClr val="CBD5E1"/>
                </a:solidFill>
              </a:defRPr>
            </a:pPr>
            <a:r>
              <a:t>github.com/prathamraval33/ml-project</a:t>
            </a:r>
          </a:p>
        </p:txBody>
      </p:sp>
      <p:sp>
        <p:nvSpPr>
          <p:cNvPr id="6" name="TextBox 5"/>
          <p:cNvSpPr txBox="1"/>
          <p:nvPr/>
        </p:nvSpPr>
        <p:spPr>
          <a:xfrm>
            <a:off x="1097280" y="3657600"/>
            <a:ext cx="5486400" cy="502920"/>
          </a:xfrm>
          <a:prstGeom prst="rect">
            <a:avLst/>
          </a:prstGeom>
          <a:noFill/>
        </p:spPr>
        <p:txBody>
          <a:bodyPr wrap="square">
            <a:spAutoFit/>
          </a:bodyPr>
          <a:lstStyle/>
          <a:p>
            <a:pPr>
              <a:defRPr sz="950" b="1">
                <a:solidFill>
                  <a:srgbClr val="FFB829"/>
                </a:solidFill>
              </a:defRPr>
            </a:pPr>
            <a:r>
              <a:t>CORE RESULTS</a:t>
            </a:r>
          </a:p>
          <a:p>
            <a:pPr>
              <a:spcBef>
                <a:spcPts val="200"/>
              </a:spcBef>
              <a:defRPr sz="1100">
                <a:solidFill>
                  <a:srgbClr val="CBD5E1"/>
                </a:solidFill>
              </a:defRPr>
            </a:pPr>
            <a:r>
              <a:t>Test R²: 0.38 • Pearson r: 0.63 • 3,931 Clean Historical Films</a:t>
            </a:r>
          </a:p>
        </p:txBody>
      </p:sp>
      <p:sp>
        <p:nvSpPr>
          <p:cNvPr id="7" name="TextBox 6"/>
          <p:cNvSpPr txBox="1"/>
          <p:nvPr/>
        </p:nvSpPr>
        <p:spPr>
          <a:xfrm>
            <a:off x="1097280" y="4251960"/>
            <a:ext cx="5486400" cy="502920"/>
          </a:xfrm>
          <a:prstGeom prst="rect">
            <a:avLst/>
          </a:prstGeom>
          <a:noFill/>
        </p:spPr>
        <p:txBody>
          <a:bodyPr wrap="square">
            <a:spAutoFit/>
          </a:bodyPr>
          <a:lstStyle/>
          <a:p>
            <a:pPr>
              <a:defRPr sz="950" b="1">
                <a:solidFill>
                  <a:srgbClr val="FFB829"/>
                </a:solidFill>
              </a:defRPr>
            </a:pPr>
            <a:r>
              <a:t>COMPONENTS</a:t>
            </a:r>
          </a:p>
          <a:p>
            <a:pPr>
              <a:spcBef>
                <a:spcPts val="200"/>
              </a:spcBef>
              <a:defRPr sz="1100">
                <a:solidFill>
                  <a:srgbClr val="CBD5E1"/>
                </a:solidFill>
              </a:defRPr>
            </a:pPr>
            <a:r>
              <a:t>FastAPI Engine • React 18 UI • Optuna • TreeExplainer SHAP</a:t>
            </a:r>
          </a:p>
        </p:txBody>
      </p:sp>
      <p:sp>
        <p:nvSpPr>
          <p:cNvPr id="8" name="TextBox 7"/>
          <p:cNvSpPr txBox="1"/>
          <p:nvPr/>
        </p:nvSpPr>
        <p:spPr>
          <a:xfrm>
            <a:off x="1097280" y="4846320"/>
            <a:ext cx="5486400" cy="502920"/>
          </a:xfrm>
          <a:prstGeom prst="rect">
            <a:avLst/>
          </a:prstGeom>
          <a:noFill/>
        </p:spPr>
        <p:txBody>
          <a:bodyPr wrap="square">
            <a:spAutoFit/>
          </a:bodyPr>
          <a:lstStyle/>
          <a:p>
            <a:pPr>
              <a:defRPr sz="950" b="1">
                <a:solidFill>
                  <a:srgbClr val="FFB829"/>
                </a:solidFill>
              </a:defRPr>
            </a:pPr>
            <a:r>
              <a:t>LICENSE</a:t>
            </a:r>
          </a:p>
          <a:p>
            <a:pPr>
              <a:spcBef>
                <a:spcPts val="200"/>
              </a:spcBef>
              <a:defRPr sz="1100">
                <a:solidFill>
                  <a:srgbClr val="CBD5E1"/>
                </a:solidFill>
              </a:defRPr>
            </a:pPr>
            <a:r>
              <a:t>Open-Source MIT License • Automated Pytest CI Suite</a:t>
            </a:r>
          </a:p>
        </p:txBody>
      </p:sp>
      <p:sp>
        <p:nvSpPr>
          <p:cNvPr id="9" name="Rounded Rectangle 8"/>
          <p:cNvSpPr/>
          <p:nvPr/>
        </p:nvSpPr>
        <p:spPr>
          <a:xfrm>
            <a:off x="7315200" y="914400"/>
            <a:ext cx="4160520" cy="5029200"/>
          </a:xfrm>
          <a:prstGeom prst="roundRect">
            <a:avLst/>
          </a:prstGeom>
          <a:solidFill>
            <a:srgbClr val="121422"/>
          </a:solidFill>
          <a:ln w="12700">
            <a:solidFill>
              <a:srgbClr val="805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1188720"/>
            <a:ext cx="3794760" cy="731520"/>
          </a:xfrm>
          <a:prstGeom prst="rect">
            <a:avLst/>
          </a:prstGeom>
          <a:noFill/>
        </p:spPr>
        <p:txBody>
          <a:bodyPr wrap="square">
            <a:spAutoFit/>
          </a:bodyPr>
          <a:lstStyle/>
          <a:p>
            <a:pPr algn="ctr">
              <a:defRPr sz="1300" b="1">
                <a:solidFill>
                  <a:srgbClr val="FFFFFF"/>
                </a:solidFill>
              </a:defRPr>
            </a:pPr>
            <a:r>
              <a:t>SCAN TO ACCESS REPOSITORY</a:t>
            </a:r>
          </a:p>
          <a:p>
            <a:pPr algn="ctr">
              <a:spcBef>
                <a:spcPts val="200"/>
              </a:spcBef>
              <a:defRPr sz="1000">
                <a:solidFill>
                  <a:srgbClr val="94A3B8"/>
                </a:solidFill>
              </a:defRPr>
            </a:pPr>
            <a:r>
              <a:t>Codebase • Model Registry • Interactive UI</a:t>
            </a:r>
          </a:p>
        </p:txBody>
      </p:sp>
      <p:pic>
        <p:nvPicPr>
          <p:cNvPr id="11" name="Picture 10" descr="repo_qrcode.png"/>
          <p:cNvPicPr>
            <a:picLocks noChangeAspect="1"/>
          </p:cNvPicPr>
          <p:nvPr/>
        </p:nvPicPr>
        <p:blipFill>
          <a:blip r:embed="rId2"/>
          <a:stretch>
            <a:fillRect/>
          </a:stretch>
        </p:blipFill>
        <p:spPr>
          <a:xfrm>
            <a:off x="8229600" y="2057400"/>
            <a:ext cx="2331720" cy="2331720"/>
          </a:xfrm>
          <a:prstGeom prst="rect">
            <a:avLst/>
          </a:prstGeom>
        </p:spPr>
      </p:pic>
      <p:sp>
        <p:nvSpPr>
          <p:cNvPr id="12" name="Rounded Rectangle 11"/>
          <p:cNvSpPr/>
          <p:nvPr/>
        </p:nvSpPr>
        <p:spPr>
          <a:xfrm>
            <a:off x="7772400" y="4709160"/>
            <a:ext cx="3246120" cy="731520"/>
          </a:xfrm>
          <a:prstGeom prst="roundRect">
            <a:avLst/>
          </a:prstGeom>
          <a:solidFill>
            <a:srgbClr val="181B2C"/>
          </a:solidFill>
          <a:ln w="12700">
            <a:solidFill>
              <a:srgbClr val="262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thub.png"/>
          <p:cNvPicPr>
            <a:picLocks noChangeAspect="1"/>
          </p:cNvPicPr>
          <p:nvPr/>
        </p:nvPicPr>
        <p:blipFill>
          <a:blip r:embed="rId3"/>
          <a:stretch>
            <a:fillRect/>
          </a:stretch>
        </p:blipFill>
        <p:spPr>
          <a:xfrm>
            <a:off x="8001000" y="4846320"/>
            <a:ext cx="457200" cy="457200"/>
          </a:xfrm>
          <a:prstGeom prst="rect">
            <a:avLst/>
          </a:prstGeom>
        </p:spPr>
      </p:pic>
      <p:sp>
        <p:nvSpPr>
          <p:cNvPr id="14" name="TextBox 13"/>
          <p:cNvSpPr txBox="1"/>
          <p:nvPr/>
        </p:nvSpPr>
        <p:spPr>
          <a:xfrm>
            <a:off x="8549640" y="4800600"/>
            <a:ext cx="2286000" cy="548640"/>
          </a:xfrm>
          <a:prstGeom prst="rect">
            <a:avLst/>
          </a:prstGeom>
          <a:noFill/>
        </p:spPr>
        <p:txBody>
          <a:bodyPr wrap="square">
            <a:spAutoFit/>
          </a:bodyPr>
          <a:lstStyle/>
          <a:p>
            <a:pPr>
              <a:defRPr sz="1100" b="1">
                <a:solidFill>
                  <a:srgbClr val="FFFFFF"/>
                </a:solidFill>
              </a:defRPr>
            </a:pPr>
            <a:r>
              <a:t>VIEW ON GITHUB</a:t>
            </a:r>
          </a:p>
          <a:p>
            <a:pPr>
              <a:defRPr sz="950">
                <a:solidFill>
                  <a:srgbClr val="8052FF"/>
                </a:solidFill>
              </a:defRPr>
            </a:pPr>
            <a:r>
              <a:t>prathamraval33/ml-project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